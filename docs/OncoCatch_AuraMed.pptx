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a508fb9a7fb4322" /><Relationship Type="http://schemas.openxmlformats.org/officeDocument/2006/relationships/extended-properties" Target="/docProps/app.xml" Id="R51df71f8549d4cb1" /><Relationship Type="http://schemas.openxmlformats.org/officeDocument/2006/relationships/officeDocument" Target="/ppt/presentation.xml" Id="R4d5a3ba083ee4144" /></Relationships>
</file>

<file path=ppt/presentation.xml><?xml version="1.0" encoding="utf-8"?>
<p:presentation xmlns:p="http://schemas.openxmlformats.org/presentationml/2006/main">
  <p:sldMasterIdLst>
    <p:sldMasterId xmlns:r="http://schemas.openxmlformats.org/officeDocument/2006/relationships" id="2147483648" r:id="R39fd156b7a78492e"/>
  </p:sldMasterIdLst>
  <p:notesMasterIdLst>
    <p:notesMasterId xmlns:r="http://schemas.openxmlformats.org/officeDocument/2006/relationships" r:id="Rb0a06c41ec1d4aa9"/>
  </p:notesMasterIdLst>
  <p:sldIdLst>
    <p:sldId xmlns:r="http://schemas.openxmlformats.org/officeDocument/2006/relationships" id="256" r:id="R1caf27324e60491a"/>
    <p:sldId xmlns:r="http://schemas.openxmlformats.org/officeDocument/2006/relationships" id="257" r:id="R5d226145dcc94c67"/>
    <p:sldId xmlns:r="http://schemas.openxmlformats.org/officeDocument/2006/relationships" id="258" r:id="R619db9582cfe491b"/>
    <p:sldId xmlns:r="http://schemas.openxmlformats.org/officeDocument/2006/relationships" id="259" r:id="Ra72bcfa30f9243f9"/>
    <p:sldId xmlns:r="http://schemas.openxmlformats.org/officeDocument/2006/relationships" id="260" r:id="Rf65b13a1a82b4023"/>
    <p:sldId xmlns:r="http://schemas.openxmlformats.org/officeDocument/2006/relationships" id="261" r:id="Re2a30c6bf0784134"/>
    <p:sldId xmlns:r="http://schemas.openxmlformats.org/officeDocument/2006/relationships" id="262" r:id="Re31a2291cccc4929"/>
    <p:sldId xmlns:r="http://schemas.openxmlformats.org/officeDocument/2006/relationships" id="263" r:id="R77b425f4fd334162"/>
    <p:sldId xmlns:r="http://schemas.openxmlformats.org/officeDocument/2006/relationships" id="264" r:id="R35790794c71b4964"/>
    <p:sldId xmlns:r="http://schemas.openxmlformats.org/officeDocument/2006/relationships" id="265" r:id="R8a2ff49e044f4982"/>
    <p:sldId xmlns:r="http://schemas.openxmlformats.org/officeDocument/2006/relationships" id="266" r:id="Rc2247c95d0ca432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a66d7aa90a84e29" /><Relationship Type="http://schemas.openxmlformats.org/officeDocument/2006/relationships/slideMaster" Target="/ppt/slideMasters/slideMaster1.xml" Id="R39fd156b7a78492e" /><Relationship Type="http://schemas.openxmlformats.org/officeDocument/2006/relationships/notesMaster" Target="/ppt/notesMasters/notesMaster1.xml" Id="Rb0a06c41ec1d4aa9" /><Relationship Type="http://schemas.openxmlformats.org/officeDocument/2006/relationships/presProps" Target="/ppt/presProps.xml" Id="R9a1a85fcfcca484d" /><Relationship Type="http://schemas.openxmlformats.org/officeDocument/2006/relationships/tableStyles" Target="/ppt/tableStyles.xml" Id="R5c83a33a3a57415c" /><Relationship Type="http://schemas.openxmlformats.org/officeDocument/2006/relationships/slide" Target="/ppt/slides/slide1.xml" Id="R1caf27324e60491a" /><Relationship Type="http://schemas.openxmlformats.org/officeDocument/2006/relationships/slide" Target="/ppt/slides/slide2.xml" Id="R5d226145dcc94c67" /><Relationship Type="http://schemas.openxmlformats.org/officeDocument/2006/relationships/slide" Target="/ppt/slides/slide3.xml" Id="R619db9582cfe491b" /><Relationship Type="http://schemas.openxmlformats.org/officeDocument/2006/relationships/slide" Target="/ppt/slides/slide4.xml" Id="Ra72bcfa30f9243f9" /><Relationship Type="http://schemas.openxmlformats.org/officeDocument/2006/relationships/slide" Target="/ppt/slides/slide5.xml" Id="Rf65b13a1a82b4023" /><Relationship Type="http://schemas.openxmlformats.org/officeDocument/2006/relationships/slide" Target="/ppt/slides/slide6.xml" Id="Re2a30c6bf0784134" /><Relationship Type="http://schemas.openxmlformats.org/officeDocument/2006/relationships/slide" Target="/ppt/slides/slide7.xml" Id="Re31a2291cccc4929" /><Relationship Type="http://schemas.openxmlformats.org/officeDocument/2006/relationships/slide" Target="/ppt/slides/slide8.xml" Id="R77b425f4fd334162" /><Relationship Type="http://schemas.openxmlformats.org/officeDocument/2006/relationships/slide" Target="/ppt/slides/slide9.xml" Id="R35790794c71b4964" /><Relationship Type="http://schemas.openxmlformats.org/officeDocument/2006/relationships/slide" Target="/ppt/slides/slide10.xml" Id="R8a2ff49e044f4982" /><Relationship Type="http://schemas.openxmlformats.org/officeDocument/2006/relationships/slide" Target="/ppt/slides/slide11.xml" Id="Rc2247c95d0ca432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0433677d33493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6d4304631b74f44" /><Relationship Type="http://schemas.openxmlformats.org/officeDocument/2006/relationships/notesMaster" Target="/ppt/notesMasters/notesMaster1.xml" Id="Rc84cc3f7660d4894" /></Relationships>
</file>

<file path=ppt/notesSlides/_rels/notesSlide2.xml.rels>&#65279;<?xml version="1.0" encoding="utf-8"?><Relationships xmlns="http://schemas.openxmlformats.org/package/2006/relationships"><Relationship Type="http://schemas.openxmlformats.org/officeDocument/2006/relationships/slide" Target="/ppt/slides/slide2.xml" Id="R28c93efce1e245f1" /><Relationship Type="http://schemas.openxmlformats.org/officeDocument/2006/relationships/notesMaster" Target="/ppt/notesMasters/notesMaster1.xml" Id="R8a782e1b587a47fb" /></Relationships>
</file>

<file path=ppt/notesSlides/_rels/notesSlide3.xml.rels>&#65279;<?xml version="1.0" encoding="utf-8"?><Relationships xmlns="http://schemas.openxmlformats.org/package/2006/relationships"><Relationship Type="http://schemas.openxmlformats.org/officeDocument/2006/relationships/slide" Target="/ppt/slides/slide3.xml" Id="R0b37edad550042ea" /><Relationship Type="http://schemas.openxmlformats.org/officeDocument/2006/relationships/notesMaster" Target="/ppt/notesMasters/notesMaster1.xml" Id="Rc31fb4107fc14c12" /></Relationships>
</file>

<file path=ppt/notesSlides/_rels/notesSlide4.xml.rels>&#65279;<?xml version="1.0" encoding="utf-8"?><Relationships xmlns="http://schemas.openxmlformats.org/package/2006/relationships"><Relationship Type="http://schemas.openxmlformats.org/officeDocument/2006/relationships/slide" Target="/ppt/slides/slide4.xml" Id="R458295c32991415a" /><Relationship Type="http://schemas.openxmlformats.org/officeDocument/2006/relationships/notesMaster" Target="/ppt/notesMasters/notesMaster1.xml" Id="Raa8c1e6fb29e4bee"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8f6a597e55430b" /><Relationship Type="http://schemas.openxmlformats.org/officeDocument/2006/relationships/notesMaster" Target="/ppt/notesMasters/notesMaster1.xml" Id="Re1839b1b14e144f2" /></Relationships>
</file>

<file path=ppt/notesSlides/_rels/notesSlide6.xml.rels>&#65279;<?xml version="1.0" encoding="utf-8"?><Relationships xmlns="http://schemas.openxmlformats.org/package/2006/relationships"><Relationship Type="http://schemas.openxmlformats.org/officeDocument/2006/relationships/slide" Target="/ppt/slides/slide6.xml" Id="R8d1bc28d787f418f" /><Relationship Type="http://schemas.openxmlformats.org/officeDocument/2006/relationships/notesMaster" Target="/ppt/notesMasters/notesMaster1.xml" Id="Rb5127ca4bea74b86" /></Relationships>
</file>

<file path=ppt/notesSlides/_rels/notesSlide7.xml.rels>&#65279;<?xml version="1.0" encoding="utf-8"?><Relationships xmlns="http://schemas.openxmlformats.org/package/2006/relationships"><Relationship Type="http://schemas.openxmlformats.org/officeDocument/2006/relationships/slide" Target="/ppt/slides/slide7.xml" Id="Re849bf2d94c3446e" /><Relationship Type="http://schemas.openxmlformats.org/officeDocument/2006/relationships/notesMaster" Target="/ppt/notesMasters/notesMaster1.xml" Id="R3b2181c766a145dd" /></Relationships>
</file>

<file path=ppt/notesSlides/_rels/notesSlide8.xml.rels>&#65279;<?xml version="1.0" encoding="utf-8"?><Relationships xmlns="http://schemas.openxmlformats.org/package/2006/relationships"><Relationship Type="http://schemas.openxmlformats.org/officeDocument/2006/relationships/slide" Target="/ppt/slides/slide8.xml" Id="R543d1fef70ea4935" /><Relationship Type="http://schemas.openxmlformats.org/officeDocument/2006/relationships/notesMaster" Target="/ppt/notesMasters/notesMaster1.xml" Id="Rfd9287170a814588" /></Relationships>
</file>

<file path=ppt/notesSlides/_rels/notesSlide9.xml.rels>&#65279;<?xml version="1.0" encoding="utf-8"?><Relationships xmlns="http://schemas.openxmlformats.org/package/2006/relationships"><Relationship Type="http://schemas.openxmlformats.org/officeDocument/2006/relationships/slide" Target="/ppt/slides/slide9.xml" Id="Rb6f67cf0a19f4690" /><Relationship Type="http://schemas.openxmlformats.org/officeDocument/2006/relationships/notesMaster" Target="/ppt/notesMasters/notesMaster1.xml" Id="R56d418fa89f04c0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b2a7645bb2044cd" /><Relationship Type="http://schemas.openxmlformats.org/officeDocument/2006/relationships/notesMaster" Target="/ppt/notesMasters/notesMaster1.xml" Id="Rfdb06b07774248c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57926895f3e4c21" /><Relationship Type="http://schemas.openxmlformats.org/officeDocument/2006/relationships/notesMaster" Target="/ppt/notesMasters/notesMaster1.xml" Id="R204feecaf99c4a0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Audience: hackathon judges assessing clarity, execution and technical credibility. Message: OncoCatch assigns clear ownership across models, application engineering, UX and quality. Responsibilities were assigned for this presentation at the team lead’s request; skills identify the relevant work areas, not verified employment history or certifications. Team lead: S Shriram. Working title: AuraMed — Clinical decision support for women’s health.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Message: the build targets the hand-off between assessment and follow-up. The clinic scenario is illustrative, not a surveyed prevalence claim. Source for the statistic: IARC, 24 February 2025, https://www.iarc.who.int/wp-content/uploads/2025/02/pr361_E.pdf — estimated 2.3 million new breast cancer cases worldwide in 2022. The statistic describes disease burden; it does not quantify fragmentation or demonstrate AuraMed effectiveness. Users are doctors reviewing screening evidence, patients receiving reports, and clinic administrators coordinating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Message: a multimodal, clinician-reviewed workflow carries evidence into reporting and follow-up. Differentiation is the integration of image scores, explicit clinical scoring, visual attention, report sign-off and patient access, compared with a standalone classifier output or a disconnected PDF workflow. This is a product-design distinction, not a claim of being the first system or having superior clinical accuracy. Heatmaps show model attention and do not establish a diagnosis. PCOS is an endocrine condition and is not presented as cancer. Source: frontend ScanModule, ScanResults, ScanReport, ScanShare; backend model and scoring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Message: the local application performs real model inference; the public deployment intentionally uses immutable examples. Source: frontend/package.json; backend/requirements.txt; backend/app/ml/models/breast_model.py (ResNet-50 binary head), pcos_model.py (ResNet-50), cervical_model.py (ViT-Base-Patch16-224 via timm); backend/app/core/database.py; frontend/src/services/hostedDemoAdapter.js. Model inference and clinical scoring run within the Python backend, not separate deployed services. PyTorch/torchvision/timm, NumPy, Pillow and OpenCV support the image pipeline. SQLAlchemy supports PostgreSQL with local SQLite fallback. ReportLab/WeasyPrint implement PDF export. No external LLM API is required for this workflow. Technical challenge: public hosting could not provide the full model/backend environment for free; the team separated the online saved-example demonstration from local inference. Next production requirements: external validation, robust deployment, access/data-governance review, and operational monitoring. No clinical performance or regulatory approval claim is made.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message: the prototype demonstrates a coherent examination-to-report journey. Screenshots are genuine captures from https://auramed-theta.vercel.app and contain public fictional sample data. They are saved-example UI evidence, not proof of fresh online inference. In the live local demonstration, continue from report review to signing, portal sharing and follow-up; then switch to the patient portal. Public signing and sharing are simulated. The public demo link is the fallback if the local presentation fails.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Message: AuraMed combines evidence and workflow in one examination context. Comparison is against generic standalone image-classification tools, separate clinical checklists and document hand-offs, not a measured evaluation of a named competitor. Technical distinction: separate image and clinical outputs, module-specific weighted fusion and model-attention overlays are exposed before clinician sign-off. Do not claim novelty of Grad-CAM or weighted fusion themselves. No first-in-market claim. Source: app model pipeline and the reviewed UI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Message: core local functionality exists, while production readiness remains a separate milestone. Implemented libraries and source were inspected for architecture and workflow. Public fixture generation used local trained models on test cases in an isolated database. No live hospital data, external medical device or EHR integration is claimed. Data inputs are scans and clinical fields; records use SQLAlchemy with PostgreSQL or SQLite fallback. Email/SMS requires provider configuration and is not part of the public demo. Production needs external validation, security and privacy review, access controls, backups and operational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Message: quantify potential operational reach through explicit assumptions, then measure outcomes in a supervised pilot. Arithmetic: 5 clinics x 10 examinations per clinic per day x 20 working days per month = 1,000 examination workflows per month. These are hypothetical capacity assumptions, not users, unique patients, contracts or actual adoption. Intended beneficiaries: clinicians organizing evidence, patients understanding next steps and clinic staff managing follow-up. Potential benefit is improved continuity and less repetitive administration; no measured efficiency gain, cost saving or mortality reduction is claimed. Scale plan: authenticated frontend/API, queued model workers when needed, protected durable storage and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Message: the team adapted to concrete deployment and consistency issues. Evidence in project history: hosted-demo adapter isolates public saved examples from local inference; missing image display was fixed by correcting static paths and using saved pre-blended overlays; fixture/report fusion weights were aligned with pipeline values. Breast 60/40, cervical 55/45, PCOS 50/50 for the recorded examples. Distinguish image risk scores from confidence. These are implementation lessons, not validation of clinical safety. With more time, add broader cross-module regression coverage and clinician-led usability testing.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Message: AuraMed has a specific next step beyond the prototype. Roadmap is proposed, not scheduled or complete. Validation should define endpoints, dataset permissions, subgroup performance, calibration and failure analysis with qualified clinical input. Secure hosting requires protected persistent records, backups, reliable inference and monitoring. Only then consider a supervised pilot with appropriate approvals. Request judges and mentors to connect the team with a clinical advisor, a potential pilot clinic and compute resources; ask for feedback on evaluation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inviting questions about the model pipeline, clinical workflow and deployment boundaries. Team members: S Shriram, Shreedevi S, Sidharthan H and Sanjay Kanna A B. Public demo: https://auramed-theta.vercel.app. User-supplied contact: shriram0981234@gmail.com; phone 9345598380. Recorded demo: https://youtu.be/Dbne7Zs1pR8. No verified GitHub repository was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f3b149c69544cd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e9bf8a298d14d46" /><Relationship Type="http://schemas.openxmlformats.org/officeDocument/2006/relationships/slideLayout" Target="/ppt/slideLayouts/slideLayout1.xml" Id="R562543456264409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62543456264409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052045b7d154336" /><Relationship Type="http://schemas.openxmlformats.org/officeDocument/2006/relationships/notesSlide" Target="/ppt/notesSlides/notesSlide1.xml" Id="Rd94d1137efae4a2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2c83a2633ae4041" /><Relationship Type="http://schemas.openxmlformats.org/officeDocument/2006/relationships/notesSlide" Target="/ppt/notesSlides/notesSlide2.xml" Id="Rf9dbe03870eb4e9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3644fce106a4f54" /><Relationship Type="http://schemas.openxmlformats.org/officeDocument/2006/relationships/notesSlide" Target="/ppt/notesSlides/notesSlide3.xml" Id="R053fcfbbdb564ab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f3d94bea08841ee" /><Relationship Type="http://schemas.openxmlformats.org/officeDocument/2006/relationships/notesSlide" Target="/ppt/notesSlides/notesSlide4.xml" Id="R4a173d4753c54ca2" /></Relationships>
</file>

<file path=ppt/slides/_rels/slide5.xml.rels><?xml version='1.0' encoding='utf-8'?>
<ns0:Relationships xmlns:ns0="http://schemas.openxmlformats.org/package/2006/relationships"><ns0:Relationship Type="http://schemas.openxmlformats.org/officeDocument/2006/relationships/slideLayout" Target="/ppt/slideLayouts/slideLayout1.xml" Id="Rb850d56865454ec7" /><ns0:Relationship Type="http://schemas.openxmlformats.org/officeDocument/2006/relationships/image" Target="/ppt/media/image.jpeg" Id="R4d1c1ac34f294e3b" /><ns0:Relationship Type="http://schemas.openxmlformats.org/officeDocument/2006/relationships/image" Target="/ppt/media/image2.jpeg" Id="R3db8f334905047de" /><ns0:Relationship Type="http://schemas.openxmlformats.org/officeDocument/2006/relationships/image" Target="/ppt/media/image3.jpeg" Id="R85a1c72afbc54f73" /><ns0:Relationship Type="http://schemas.openxmlformats.org/officeDocument/2006/relationships/notesSlide" Target="/ppt/notesSlides/notesSlide5.xml" Id="R603e1b8506ad4cd8" /><ns0:Relationship Id="rIdAuraMedLink1" Type="http://schemas.openxmlformats.org/officeDocument/2006/relationships/hyperlink" Target="https://youtu.be/Dbne7Zs1pR8" TargetMode="External" /></ns0: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c9d19d7e5c94f99" /><Relationship Type="http://schemas.openxmlformats.org/officeDocument/2006/relationships/notesSlide" Target="/ppt/notesSlides/notesSlide6.xml" Id="R799afcadd0ac4a0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3aaeabf2686406b" /><Relationship Type="http://schemas.openxmlformats.org/officeDocument/2006/relationships/notesSlide" Target="/ppt/notesSlides/notesSlide7.xml" Id="R4cbce5b14ce9408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20dfd6ac8834c49" /><Relationship Type="http://schemas.openxmlformats.org/officeDocument/2006/relationships/notesSlide" Target="/ppt/notesSlides/notesSlide8.xml" Id="R8e735bc42ab7443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ccd6b3cc91a42d5" /><Relationship Type="http://schemas.openxmlformats.org/officeDocument/2006/relationships/notesSlide" Target="/ppt/notesSlides/notesSlide9.xml" Id="Raed2c99d1ec5451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79cb5fccae14405" /><Relationship Type="http://schemas.openxmlformats.org/officeDocument/2006/relationships/notesSlide" Target="/ppt/notesSlides/notesSlide10.xml" Id="R5e47ff848b104a85" /></Relationships>
</file>

<file path=ppt/slides/_rels/slide11.xml.rels><?xml version='1.0' encoding='utf-8'?>
<ns0:Relationships xmlns:ns0="http://schemas.openxmlformats.org/package/2006/relationships"><ns0:Relationship Type="http://schemas.openxmlformats.org/officeDocument/2006/relationships/slideLayout" Target="/ppt/slideLayouts/slideLayout1.xml" Id="R223e8f8172d544eb" /><ns0:Relationship Type="http://schemas.openxmlformats.org/officeDocument/2006/relationships/notesSlide" Target="/ppt/notesSlides/notesSlide11.xml" Id="R1d635b12f9554399" /><ns0:Relationship Id="rIdAuraMedLink2" Type="http://schemas.openxmlformats.org/officeDocument/2006/relationships/hyperlink" Target="mailto:shriram0981234@gmail.com" TargetMode="External" /><ns0:Relationship Id="rIdAuraMedLink3" Type="http://schemas.openxmlformats.org/officeDocument/2006/relationships/hyperlink" Target="https://auramed-theta.vercel.app" TargetMode="External" /><ns0:Relationship Id="rIdAuraMedLink4" Type="http://schemas.openxmlformats.org/officeDocument/2006/relationships/hyperlink" Target="https://youtu.be/Dbne7Zs1pR8" TargetMode="External" /></ns0:Relationships>
</file>

<file path=ppt/slides/slide1.xml><?xml version="1.0" encoding="utf-8"?>
<p:sld xmlns:p="http://schemas.openxmlformats.org/presentationml/2006/main">
  <p:cSld>
    <p:bg>
      <p:bgPr>
        <a:solidFill xmlns:a="http://schemas.openxmlformats.org/drawingml/2006/main">
          <a:srgbClr val="0A192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E243DEC-97D6-4981-80B4-18D46FE16C7D}"/>
              </a:ext>
            </a:extLst>
          </p:cNvPr>
          <p:cNvSpPr>
            <a:spLocks xmlns:a="http://schemas.openxmlformats.org/drawingml/2006/main" noGrp="1"/>
          </p:cNvSpPr>
          <p:nvPr/>
        </p:nvSpPr>
        <p:spPr>
          <a:xfrm xmlns:a="http://schemas.openxmlformats.org/drawingml/2006/main">
            <a:off x="609600" y="428625"/>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Team Introduction</a:t>
            </a:r>
          </a:p>
        </p:txBody>
      </p:sp>
      <p:sp>
        <p:nvSpPr>
          <p:cNvPr id="2" name="">
            <a:extLst xmlns:a="http://schemas.openxmlformats.org/drawingml/2006/main">
              <a:ext uri="{FF2B5EF4-FFF2-40B4-BE49-F238E27FC236}">
                <a16:creationId xmlns:a16="http://schemas.microsoft.com/office/drawing/2014/main" id="{53E4454E-EC6F-405B-B842-1213205A1053}"/>
              </a:ext>
            </a:extLst>
          </p:cNvPr>
          <p:cNvSpPr>
            <a:spLocks xmlns:a="http://schemas.openxmlformats.org/drawingml/2006/main" noGrp="1"/>
          </p:cNvSpPr>
          <p:nvPr/>
        </p:nvSpPr>
        <p:spPr>
          <a:xfrm xmlns:a="http://schemas.openxmlformats.org/drawingml/2006/main">
            <a:off x="609600" y="64293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9DB3C0"/>
                </a:solidFill>
                <a:latin typeface="Arial"/>
                <a:ea typeface="Arial"/>
                <a:cs typeface="Arial"/>
              </a:defRPr>
            </a:pPr>
            <a:r>
              <a:rPr sz="1200" b="0">
                <a:solidFill>
                  <a:srgbClr val="9DB3C0"/>
                </a:solidFill>
                <a:latin typeface="Arial"/>
                <a:ea typeface="Arial"/>
                <a:cs typeface="Arial"/>
              </a:rPr>
              <a:t>OncoCatch  /  AuraMed</a:t>
            </a:r>
          </a:p>
        </p:txBody>
      </p:sp>
      <p:sp>
        <p:nvSpPr>
          <p:cNvPr id="3" name="">
            <a:extLst xmlns:a="http://schemas.openxmlformats.org/drawingml/2006/main">
              <a:ext uri="{FF2B5EF4-FFF2-40B4-BE49-F238E27FC236}">
                <a16:creationId xmlns:a16="http://schemas.microsoft.com/office/drawing/2014/main" id="{8EDD9EE8-89D9-4DAB-9519-A07A7E41B95C}"/>
              </a:ext>
            </a:extLst>
          </p:cNvPr>
          <p:cNvSpPr>
            <a:spLocks xmlns:a="http://schemas.openxmlformats.org/drawingml/2006/main" noGrp="1"/>
          </p:cNvSpPr>
          <p:nvPr/>
        </p:nvSpPr>
        <p:spPr>
          <a:xfrm xmlns:a="http://schemas.openxmlformats.org/drawingml/2006/main">
            <a:off x="10668000" y="642937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9DB3C0"/>
                </a:solidFill>
                <a:latin typeface="Arial"/>
                <a:ea typeface="Arial"/>
                <a:cs typeface="Arial"/>
              </a:defRPr>
            </a:pPr>
            <a:r>
              <a:rPr sz="1200" b="0">
                <a:solidFill>
                  <a:srgbClr val="9DB3C0"/>
                </a:solidFill>
                <a:latin typeface="Arial"/>
                <a:ea typeface="Arial"/>
                <a:cs typeface="Arial"/>
              </a:rPr>
              <a:t>01 / 11</a:t>
            </a:r>
          </a:p>
        </p:txBody>
      </p:sp>
      <p:sp>
        <p:nvSpPr>
          <p:cNvPr id="4" name="">
            <a:extLst xmlns:a="http://schemas.openxmlformats.org/drawingml/2006/main">
              <a:ext uri="{FF2B5EF4-FFF2-40B4-BE49-F238E27FC236}">
                <a16:creationId xmlns:a16="http://schemas.microsoft.com/office/drawing/2014/main" id="{B8558882-4A51-4BB1-8BA0-6D98CC2E46CF}"/>
              </a:ext>
            </a:extLst>
          </p:cNvPr>
          <p:cNvSpPr>
            <a:spLocks xmlns:a="http://schemas.openxmlformats.org/drawingml/2006/main" noGrp="1"/>
          </p:cNvSpPr>
          <p:nvPr/>
        </p:nvSpPr>
        <p:spPr>
          <a:xfrm xmlns:a="http://schemas.openxmlformats.org/drawingml/2006/main">
            <a:off x="609600" y="1343025"/>
            <a:ext cx="942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550" b="0">
                <a:solidFill>
                  <a:srgbClr val="51D6C4"/>
                </a:solidFill>
                <a:latin typeface="Arial"/>
                <a:ea typeface="Arial"/>
                <a:cs typeface="Arial"/>
              </a:defRPr>
            </a:pPr>
            <a:r>
              <a:rPr sz="2550" b="0">
                <a:solidFill>
                  <a:srgbClr val="51D6C4"/>
                </a:solidFill>
                <a:latin typeface="Arial"/>
                <a:ea typeface="Arial"/>
                <a:cs typeface="Arial"/>
              </a:rPr>
              <a:t>Clinical decision support for women’s health</a:t>
            </a:r>
          </a:p>
        </p:txBody>
      </p:sp>
      <p:sp>
        <p:nvSpPr>
          <p:cNvPr id="5" name="">
            <a:extLst xmlns:a="http://schemas.openxmlformats.org/drawingml/2006/main">
              <a:ext uri="{FF2B5EF4-FFF2-40B4-BE49-F238E27FC236}">
                <a16:creationId xmlns:a16="http://schemas.microsoft.com/office/drawing/2014/main" id="{382D662C-46FD-4BDF-BE0E-8F3CA5B61A8C}"/>
              </a:ext>
            </a:extLst>
          </p:cNvPr>
          <p:cNvSpPr>
            <a:spLocks xmlns:a="http://schemas.openxmlformats.org/drawingml/2006/main" noGrp="1"/>
          </p:cNvSpPr>
          <p:nvPr/>
        </p:nvSpPr>
        <p:spPr>
          <a:xfrm xmlns:a="http://schemas.openxmlformats.org/drawingml/2006/main">
            <a:off x="609600" y="19907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CBDBE2"/>
                </a:solidFill>
                <a:latin typeface="Arial"/>
                <a:ea typeface="Arial"/>
                <a:cs typeface="Arial"/>
              </a:defRPr>
            </a:pPr>
            <a:r>
              <a:rPr sz="1875" b="0">
                <a:solidFill>
                  <a:srgbClr val="CBDBE2"/>
                </a:solidFill>
                <a:latin typeface="Arial"/>
                <a:ea typeface="Arial"/>
                <a:cs typeface="Arial"/>
              </a:rPr>
              <a:t>Breast screening  ·  Cervical screening  ·  PCOS assessment</a:t>
            </a:r>
          </a:p>
        </p:txBody>
      </p:sp>
      <p:sp>
        <p:nvSpPr>
          <p:cNvPr id="6" name="">
            <a:extLst xmlns:a="http://schemas.openxmlformats.org/drawingml/2006/main">
              <a:ext uri="{FF2B5EF4-FFF2-40B4-BE49-F238E27FC236}">
                <a16:creationId xmlns:a16="http://schemas.microsoft.com/office/drawing/2014/main" id="{5BE1F7F6-B815-4356-82D5-890AD2C63F8B}"/>
              </a:ext>
            </a:extLst>
          </p:cNvPr>
          <p:cNvSpPr>
            <a:spLocks xmlns:a="http://schemas.openxmlformats.org/drawingml/2006/main" noGrp="1"/>
          </p:cNvSpPr>
          <p:nvPr/>
        </p:nvSpPr>
        <p:spPr>
          <a:xfrm xmlns:a="http://schemas.openxmlformats.org/drawingml/2006/main">
            <a:off x="609600" y="2876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51D6C4"/>
                </a:solidFill>
                <a:latin typeface="Arial"/>
                <a:ea typeface="Arial"/>
                <a:cs typeface="Arial"/>
              </a:defRPr>
            </a:pPr>
            <a:r>
              <a:rPr sz="1500" b="1">
                <a:solidFill>
                  <a:srgbClr val="51D6C4"/>
                </a:solidFill>
                <a:latin typeface="Arial"/>
                <a:ea typeface="Arial"/>
                <a:cs typeface="Arial"/>
              </a:rPr>
              <a:t>TEAM ONCOCATCH</a:t>
            </a:r>
          </a:p>
        </p:txBody>
      </p:sp>
      <p:sp>
        <p:nvSpPr>
          <p:cNvPr id="7" name="">
            <a:extLst xmlns:a="http://schemas.openxmlformats.org/drawingml/2006/main">
              <a:ext uri="{FF2B5EF4-FFF2-40B4-BE49-F238E27FC236}">
                <a16:creationId xmlns:a16="http://schemas.microsoft.com/office/drawing/2014/main" id="{3A3C1E7A-DD9C-4837-B89C-A5A05E1A6EC2}"/>
              </a:ext>
            </a:extLst>
          </p:cNvPr>
          <p:cNvSpPr>
            <a:spLocks xmlns:a="http://schemas.openxmlformats.org/drawingml/2006/main" noGrp="1"/>
          </p:cNvSpPr>
          <p:nvPr/>
        </p:nvSpPr>
        <p:spPr>
          <a:xfrm xmlns:a="http://schemas.openxmlformats.org/drawingml/2006/main">
            <a:off x="609600" y="3333750"/>
            <a:ext cx="10972800" cy="0"/>
          </a:xfrm>
          <a:prstGeom xmlns:a="http://schemas.openxmlformats.org/drawingml/2006/main" prst="line">
            <a:avLst/>
          </a:prstGeom>
          <a:noFill xmlns:a="http://schemas.openxmlformats.org/drawingml/2006/main"/>
          <a:ln xmlns:a="http://schemas.openxmlformats.org/drawingml/2006/main" w="14288">
            <a:solidFill>
              <a:srgbClr val="3C5564"/>
            </a:solidFill>
          </a:ln>
        </p:spPr>
      </p:sp>
      <p:sp>
        <p:nvSpPr>
          <p:cNvPr id="8" name="">
            <a:extLst xmlns:a="http://schemas.openxmlformats.org/drawingml/2006/main">
              <a:ext uri="{FF2B5EF4-FFF2-40B4-BE49-F238E27FC236}">
                <a16:creationId xmlns:a16="http://schemas.microsoft.com/office/drawing/2014/main" id="{1B08AE65-E030-4094-9B28-982A8611BC7A}"/>
              </a:ext>
            </a:extLst>
          </p:cNvPr>
          <p:cNvSpPr>
            <a:spLocks xmlns:a="http://schemas.openxmlformats.org/drawingml/2006/main" noGrp="1"/>
          </p:cNvSpPr>
          <p:nvPr/>
        </p:nvSpPr>
        <p:spPr>
          <a:xfrm xmlns:a="http://schemas.openxmlformats.org/drawingml/2006/main">
            <a:off x="609600" y="36671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S Shriram</a:t>
            </a:r>
          </a:p>
        </p:txBody>
      </p:sp>
      <p:sp>
        <p:nvSpPr>
          <p:cNvPr id="9" name="">
            <a:extLst xmlns:a="http://schemas.openxmlformats.org/drawingml/2006/main">
              <a:ext uri="{FF2B5EF4-FFF2-40B4-BE49-F238E27FC236}">
                <a16:creationId xmlns:a16="http://schemas.microsoft.com/office/drawing/2014/main" id="{6B1CFD36-B190-4143-A46F-422D507C9870}"/>
              </a:ext>
            </a:extLst>
          </p:cNvPr>
          <p:cNvSpPr>
            <a:spLocks xmlns:a="http://schemas.openxmlformats.org/drawingml/2006/main" noGrp="1"/>
          </p:cNvSpPr>
          <p:nvPr/>
        </p:nvSpPr>
        <p:spPr>
          <a:xfrm xmlns:a="http://schemas.openxmlformats.org/drawingml/2006/main">
            <a:off x="609600" y="4238625"/>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1D6C4"/>
                </a:solidFill>
                <a:latin typeface="Arial"/>
                <a:ea typeface="Arial"/>
                <a:cs typeface="Arial"/>
              </a:defRPr>
            </a:pPr>
            <a:r>
              <a:rPr sz="1800" b="0">
                <a:solidFill>
                  <a:srgbClr val="51D6C4"/>
                </a:solidFill>
                <a:latin typeface="Arial"/>
                <a:ea typeface="Arial"/>
                <a:cs typeface="Arial"/>
              </a:rPr>
              <a:t>Team lead</a:t>
            </a:r>
          </a:p>
          <a:p xmlns:a="http://schemas.openxmlformats.org/drawingml/2006/main">
            <a:pPr>
              <a:defRPr sz="1800" b="0">
                <a:solidFill>
                  <a:srgbClr val="51D6C4"/>
                </a:solidFill>
                <a:latin typeface="Arial"/>
                <a:ea typeface="Arial"/>
                <a:cs typeface="Arial"/>
              </a:defRPr>
            </a:pPr>
            <a:r>
              <a:rPr sz="1800" b="0">
                <a:solidFill>
                  <a:srgbClr val="51D6C4"/>
                </a:solidFill>
                <a:latin typeface="Arial"/>
                <a:ea typeface="Arial"/>
                <a:cs typeface="Arial"/>
              </a:rPr>
              <a:t>Backend &amp; models</a:t>
            </a:r>
          </a:p>
        </p:txBody>
      </p:sp>
      <p:sp>
        <p:nvSpPr>
          <p:cNvPr id="10" name="">
            <a:extLst xmlns:a="http://schemas.openxmlformats.org/drawingml/2006/main">
              <a:ext uri="{FF2B5EF4-FFF2-40B4-BE49-F238E27FC236}">
                <a16:creationId xmlns:a16="http://schemas.microsoft.com/office/drawing/2014/main" id="{3EDB4C1E-1D24-4B00-B93D-B1FC29B74F04}"/>
              </a:ext>
            </a:extLst>
          </p:cNvPr>
          <p:cNvSpPr>
            <a:spLocks xmlns:a="http://schemas.openxmlformats.org/drawingml/2006/main" noGrp="1"/>
          </p:cNvSpPr>
          <p:nvPr/>
        </p:nvSpPr>
        <p:spPr>
          <a:xfrm xmlns:a="http://schemas.openxmlformats.org/drawingml/2006/main">
            <a:off x="609600" y="51816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CBDBE2"/>
                </a:solidFill>
                <a:latin typeface="Arial"/>
                <a:ea typeface="Arial"/>
                <a:cs typeface="Arial"/>
              </a:defRPr>
            </a:pPr>
            <a:r>
              <a:rPr sz="1575" b="0">
                <a:solidFill>
                  <a:srgbClr val="CBDBE2"/>
                </a:solidFill>
                <a:latin typeface="Arial"/>
                <a:ea typeface="Arial"/>
                <a:cs typeface="Arial"/>
              </a:rPr>
              <a:t>Python · FastAPI</a:t>
            </a:r>
          </a:p>
          <a:p xmlns:a="http://schemas.openxmlformats.org/drawingml/2006/main">
            <a:pPr>
              <a:defRPr sz="1575" b="0">
                <a:solidFill>
                  <a:srgbClr val="CBDBE2"/>
                </a:solidFill>
                <a:latin typeface="Arial"/>
                <a:ea typeface="Arial"/>
                <a:cs typeface="Arial"/>
              </a:defRPr>
            </a:pPr>
            <a:r>
              <a:rPr sz="1575" b="0">
                <a:solidFill>
                  <a:srgbClr val="CBDBE2"/>
                </a:solidFill>
                <a:latin typeface="Arial"/>
                <a:ea typeface="Arial"/>
                <a:cs typeface="Arial"/>
              </a:rPr>
              <a:t>PyTorch · model fusion</a:t>
            </a:r>
          </a:p>
        </p:txBody>
      </p:sp>
      <p:sp>
        <p:nvSpPr>
          <p:cNvPr id="11" name="">
            <a:extLst xmlns:a="http://schemas.openxmlformats.org/drawingml/2006/main">
              <a:ext uri="{FF2B5EF4-FFF2-40B4-BE49-F238E27FC236}">
                <a16:creationId xmlns:a16="http://schemas.microsoft.com/office/drawing/2014/main" id="{E1C69B11-CA8D-4DCE-A16C-885FB9DFE8D9}"/>
              </a:ext>
            </a:extLst>
          </p:cNvPr>
          <p:cNvSpPr>
            <a:spLocks xmlns:a="http://schemas.openxmlformats.org/drawingml/2006/main" noGrp="1"/>
          </p:cNvSpPr>
          <p:nvPr/>
        </p:nvSpPr>
        <p:spPr>
          <a:xfrm xmlns:a="http://schemas.openxmlformats.org/drawingml/2006/main">
            <a:off x="3476625" y="36671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Shreedevi S</a:t>
            </a:r>
          </a:p>
        </p:txBody>
      </p:sp>
      <p:sp>
        <p:nvSpPr>
          <p:cNvPr id="12" name="">
            <a:extLst xmlns:a="http://schemas.openxmlformats.org/drawingml/2006/main">
              <a:ext uri="{FF2B5EF4-FFF2-40B4-BE49-F238E27FC236}">
                <a16:creationId xmlns:a16="http://schemas.microsoft.com/office/drawing/2014/main" id="{BF0125BA-1017-4827-9272-BFB775FA930D}"/>
              </a:ext>
            </a:extLst>
          </p:cNvPr>
          <p:cNvSpPr>
            <a:spLocks xmlns:a="http://schemas.openxmlformats.org/drawingml/2006/main" noGrp="1"/>
          </p:cNvSpPr>
          <p:nvPr/>
        </p:nvSpPr>
        <p:spPr>
          <a:xfrm xmlns:a="http://schemas.openxmlformats.org/drawingml/2006/main">
            <a:off x="3476625" y="4238625"/>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1D6C4"/>
                </a:solidFill>
                <a:latin typeface="Arial"/>
                <a:ea typeface="Arial"/>
                <a:cs typeface="Arial"/>
              </a:defRPr>
            </a:pPr>
            <a:r>
              <a:rPr sz="1800" b="0">
                <a:solidFill>
                  <a:srgbClr val="51D6C4"/>
                </a:solidFill>
                <a:latin typeface="Arial"/>
                <a:ea typeface="Arial"/>
                <a:cs typeface="Arial"/>
              </a:rPr>
              <a:t>Frontend &amp;</a:t>
            </a:r>
          </a:p>
          <a:p xmlns:a="http://schemas.openxmlformats.org/drawingml/2006/main">
            <a:pPr>
              <a:defRPr sz="1800" b="0">
                <a:solidFill>
                  <a:srgbClr val="51D6C4"/>
                </a:solidFill>
                <a:latin typeface="Arial"/>
                <a:ea typeface="Arial"/>
                <a:cs typeface="Arial"/>
              </a:defRPr>
            </a:pPr>
            <a:r>
              <a:rPr sz="1800" b="0">
                <a:solidFill>
                  <a:srgbClr val="51D6C4"/>
                </a:solidFill>
                <a:latin typeface="Arial"/>
                <a:ea typeface="Arial"/>
                <a:cs typeface="Arial"/>
              </a:rPr>
              <a:t>application integration</a:t>
            </a:r>
          </a:p>
        </p:txBody>
      </p:sp>
      <p:sp>
        <p:nvSpPr>
          <p:cNvPr id="13" name="">
            <a:extLst xmlns:a="http://schemas.openxmlformats.org/drawingml/2006/main">
              <a:ext uri="{FF2B5EF4-FFF2-40B4-BE49-F238E27FC236}">
                <a16:creationId xmlns:a16="http://schemas.microsoft.com/office/drawing/2014/main" id="{308EF27D-0201-43D0-8BE4-8AEF5FA28352}"/>
              </a:ext>
            </a:extLst>
          </p:cNvPr>
          <p:cNvSpPr>
            <a:spLocks xmlns:a="http://schemas.openxmlformats.org/drawingml/2006/main" noGrp="1"/>
          </p:cNvSpPr>
          <p:nvPr/>
        </p:nvSpPr>
        <p:spPr>
          <a:xfrm xmlns:a="http://schemas.openxmlformats.org/drawingml/2006/main">
            <a:off x="3476625" y="51816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CBDBE2"/>
                </a:solidFill>
                <a:latin typeface="Arial"/>
                <a:ea typeface="Arial"/>
                <a:cs typeface="Arial"/>
              </a:defRPr>
            </a:pPr>
            <a:r>
              <a:rPr sz="1575" b="0">
                <a:solidFill>
                  <a:srgbClr val="CBDBE2"/>
                </a:solidFill>
                <a:latin typeface="Arial"/>
                <a:ea typeface="Arial"/>
                <a:cs typeface="Arial"/>
              </a:rPr>
              <a:t>React · API integration</a:t>
            </a:r>
          </a:p>
          <a:p xmlns:a="http://schemas.openxmlformats.org/drawingml/2006/main">
            <a:pPr>
              <a:defRPr sz="1575" b="0">
                <a:solidFill>
                  <a:srgbClr val="CBDBE2"/>
                </a:solidFill>
                <a:latin typeface="Arial"/>
                <a:ea typeface="Arial"/>
                <a:cs typeface="Arial"/>
              </a:defRPr>
            </a:pPr>
            <a:r>
              <a:rPr sz="1575" b="0">
                <a:solidFill>
                  <a:srgbClr val="CBDBE2"/>
                </a:solidFill>
                <a:latin typeface="Arial"/>
                <a:ea typeface="Arial"/>
                <a:cs typeface="Arial"/>
              </a:rPr>
              <a:t>Doctor workspace</a:t>
            </a:r>
          </a:p>
        </p:txBody>
      </p:sp>
      <p:sp>
        <p:nvSpPr>
          <p:cNvPr id="14" name="">
            <a:extLst xmlns:a="http://schemas.openxmlformats.org/drawingml/2006/main">
              <a:ext uri="{FF2B5EF4-FFF2-40B4-BE49-F238E27FC236}">
                <a16:creationId xmlns:a16="http://schemas.microsoft.com/office/drawing/2014/main" id="{E4FDB654-3145-421B-AA94-E2D87E4C5FC1}"/>
              </a:ext>
            </a:extLst>
          </p:cNvPr>
          <p:cNvSpPr>
            <a:spLocks xmlns:a="http://schemas.openxmlformats.org/drawingml/2006/main" noGrp="1"/>
          </p:cNvSpPr>
          <p:nvPr/>
        </p:nvSpPr>
        <p:spPr>
          <a:xfrm xmlns:a="http://schemas.openxmlformats.org/drawingml/2006/main">
            <a:off x="6343650" y="36671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Sidharthan H</a:t>
            </a:r>
          </a:p>
        </p:txBody>
      </p:sp>
      <p:sp>
        <p:nvSpPr>
          <p:cNvPr id="15" name="">
            <a:extLst xmlns:a="http://schemas.openxmlformats.org/drawingml/2006/main">
              <a:ext uri="{FF2B5EF4-FFF2-40B4-BE49-F238E27FC236}">
                <a16:creationId xmlns:a16="http://schemas.microsoft.com/office/drawing/2014/main" id="{A17DE86C-B755-4A02-9A02-066E311DEB44}"/>
              </a:ext>
            </a:extLst>
          </p:cNvPr>
          <p:cNvSpPr>
            <a:spLocks xmlns:a="http://schemas.openxmlformats.org/drawingml/2006/main" noGrp="1"/>
          </p:cNvSpPr>
          <p:nvPr/>
        </p:nvSpPr>
        <p:spPr>
          <a:xfrm xmlns:a="http://schemas.openxmlformats.org/drawingml/2006/main">
            <a:off x="6343650" y="4238625"/>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1D6C4"/>
                </a:solidFill>
                <a:latin typeface="Arial"/>
                <a:ea typeface="Arial"/>
                <a:cs typeface="Arial"/>
              </a:defRPr>
            </a:pPr>
            <a:r>
              <a:rPr sz="1800" b="0">
                <a:solidFill>
                  <a:srgbClr val="51D6C4"/>
                </a:solidFill>
                <a:latin typeface="Arial"/>
                <a:ea typeface="Arial"/>
                <a:cs typeface="Arial"/>
              </a:rPr>
              <a:t>UX design &amp;</a:t>
            </a:r>
          </a:p>
          <a:p xmlns:a="http://schemas.openxmlformats.org/drawingml/2006/main">
            <a:pPr>
              <a:defRPr sz="1800" b="0">
                <a:solidFill>
                  <a:srgbClr val="51D6C4"/>
                </a:solidFill>
                <a:latin typeface="Arial"/>
                <a:ea typeface="Arial"/>
                <a:cs typeface="Arial"/>
              </a:defRPr>
            </a:pPr>
            <a:r>
              <a:rPr sz="1800" b="0">
                <a:solidFill>
                  <a:srgbClr val="51D6C4"/>
                </a:solidFill>
                <a:latin typeface="Arial"/>
                <a:ea typeface="Arial"/>
                <a:cs typeface="Arial"/>
              </a:rPr>
              <a:t>patient workflow</a:t>
            </a:r>
          </a:p>
        </p:txBody>
      </p:sp>
      <p:sp>
        <p:nvSpPr>
          <p:cNvPr id="16" name="">
            <a:extLst xmlns:a="http://schemas.openxmlformats.org/drawingml/2006/main">
              <a:ext uri="{FF2B5EF4-FFF2-40B4-BE49-F238E27FC236}">
                <a16:creationId xmlns:a16="http://schemas.microsoft.com/office/drawing/2014/main" id="{98001677-E83A-469F-AA6B-A402F165B907}"/>
              </a:ext>
            </a:extLst>
          </p:cNvPr>
          <p:cNvSpPr>
            <a:spLocks xmlns:a="http://schemas.openxmlformats.org/drawingml/2006/main" noGrp="1"/>
          </p:cNvSpPr>
          <p:nvPr/>
        </p:nvSpPr>
        <p:spPr>
          <a:xfrm xmlns:a="http://schemas.openxmlformats.org/drawingml/2006/main">
            <a:off x="6343650" y="51816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CBDBE2"/>
                </a:solidFill>
                <a:latin typeface="Arial"/>
                <a:ea typeface="Arial"/>
                <a:cs typeface="Arial"/>
              </a:defRPr>
            </a:pPr>
            <a:r>
              <a:rPr sz="1575" b="0">
                <a:solidFill>
                  <a:srgbClr val="CBDBE2"/>
                </a:solidFill>
                <a:latin typeface="Arial"/>
                <a:ea typeface="Arial"/>
                <a:cs typeface="Arial"/>
              </a:rPr>
              <a:t>Interaction design</a:t>
            </a:r>
          </a:p>
          <a:p xmlns:a="http://schemas.openxmlformats.org/drawingml/2006/main">
            <a:pPr>
              <a:defRPr sz="1575" b="0">
                <a:solidFill>
                  <a:srgbClr val="CBDBE2"/>
                </a:solidFill>
                <a:latin typeface="Arial"/>
                <a:ea typeface="Arial"/>
                <a:cs typeface="Arial"/>
              </a:defRPr>
            </a:pPr>
            <a:r>
              <a:rPr sz="1575" b="0">
                <a:solidFill>
                  <a:srgbClr val="CBDBE2"/>
                </a:solidFill>
                <a:latin typeface="Arial"/>
                <a:ea typeface="Arial"/>
                <a:cs typeface="Arial"/>
              </a:rPr>
              <a:t>Patient portal · accessibility</a:t>
            </a:r>
          </a:p>
        </p:txBody>
      </p:sp>
      <p:sp>
        <p:nvSpPr>
          <p:cNvPr id="17" name="">
            <a:extLst xmlns:a="http://schemas.openxmlformats.org/drawingml/2006/main">
              <a:ext uri="{FF2B5EF4-FFF2-40B4-BE49-F238E27FC236}">
                <a16:creationId xmlns:a16="http://schemas.microsoft.com/office/drawing/2014/main" id="{AC08AAFB-F93F-4D49-8115-CF943333C639}"/>
              </a:ext>
            </a:extLst>
          </p:cNvPr>
          <p:cNvSpPr>
            <a:spLocks xmlns:a="http://schemas.openxmlformats.org/drawingml/2006/main" noGrp="1"/>
          </p:cNvSpPr>
          <p:nvPr/>
        </p:nvSpPr>
        <p:spPr>
          <a:xfrm xmlns:a="http://schemas.openxmlformats.org/drawingml/2006/main">
            <a:off x="9210675" y="36671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Sanjay Kanna A B</a:t>
            </a:r>
          </a:p>
        </p:txBody>
      </p:sp>
      <p:sp>
        <p:nvSpPr>
          <p:cNvPr id="18" name="">
            <a:extLst xmlns:a="http://schemas.openxmlformats.org/drawingml/2006/main">
              <a:ext uri="{FF2B5EF4-FFF2-40B4-BE49-F238E27FC236}">
                <a16:creationId xmlns:a16="http://schemas.microsoft.com/office/drawing/2014/main" id="{E63396E2-52DC-445D-8664-98F1DD1B9D07}"/>
              </a:ext>
            </a:extLst>
          </p:cNvPr>
          <p:cNvSpPr>
            <a:spLocks xmlns:a="http://schemas.openxmlformats.org/drawingml/2006/main" noGrp="1"/>
          </p:cNvSpPr>
          <p:nvPr/>
        </p:nvSpPr>
        <p:spPr>
          <a:xfrm xmlns:a="http://schemas.openxmlformats.org/drawingml/2006/main">
            <a:off x="9210675" y="4238625"/>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1D6C4"/>
                </a:solidFill>
                <a:latin typeface="Arial"/>
                <a:ea typeface="Arial"/>
                <a:cs typeface="Arial"/>
              </a:defRPr>
            </a:pPr>
            <a:r>
              <a:rPr sz="1800" b="0">
                <a:solidFill>
                  <a:srgbClr val="51D6C4"/>
                </a:solidFill>
                <a:latin typeface="Arial"/>
                <a:ea typeface="Arial"/>
                <a:cs typeface="Arial"/>
              </a:rPr>
              <a:t>Quality assurance &amp;</a:t>
            </a:r>
          </a:p>
          <a:p xmlns:a="http://schemas.openxmlformats.org/drawingml/2006/main">
            <a:pPr>
              <a:defRPr sz="1800" b="0">
                <a:solidFill>
                  <a:srgbClr val="51D6C4"/>
                </a:solidFill>
                <a:latin typeface="Arial"/>
                <a:ea typeface="Arial"/>
                <a:cs typeface="Arial"/>
              </a:defRPr>
            </a:pPr>
            <a:r>
              <a:rPr sz="1800" b="0">
                <a:solidFill>
                  <a:srgbClr val="51D6C4"/>
                </a:solidFill>
                <a:latin typeface="Arial"/>
                <a:ea typeface="Arial"/>
                <a:cs typeface="Arial"/>
              </a:rPr>
              <a:t>demo preparation</a:t>
            </a:r>
          </a:p>
        </p:txBody>
      </p:sp>
      <p:sp>
        <p:nvSpPr>
          <p:cNvPr id="19" name="">
            <a:extLst xmlns:a="http://schemas.openxmlformats.org/drawingml/2006/main">
              <a:ext uri="{FF2B5EF4-FFF2-40B4-BE49-F238E27FC236}">
                <a16:creationId xmlns:a16="http://schemas.microsoft.com/office/drawing/2014/main" id="{13937502-405F-40FB-8B15-17D024BA4D23}"/>
              </a:ext>
            </a:extLst>
          </p:cNvPr>
          <p:cNvSpPr>
            <a:spLocks xmlns:a="http://schemas.openxmlformats.org/drawingml/2006/main" noGrp="1"/>
          </p:cNvSpPr>
          <p:nvPr/>
        </p:nvSpPr>
        <p:spPr>
          <a:xfrm xmlns:a="http://schemas.openxmlformats.org/drawingml/2006/main">
            <a:off x="9210675" y="51816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CBDBE2"/>
                </a:solidFill>
                <a:latin typeface="Arial"/>
                <a:ea typeface="Arial"/>
                <a:cs typeface="Arial"/>
              </a:defRPr>
            </a:pPr>
            <a:r>
              <a:rPr sz="1575" b="0">
                <a:solidFill>
                  <a:srgbClr val="CBDBE2"/>
                </a:solidFill>
                <a:latin typeface="Arial"/>
                <a:ea typeface="Arial"/>
                <a:cs typeface="Arial"/>
              </a:rPr>
              <a:t>Workflow testing</a:t>
            </a:r>
          </a:p>
          <a:p xmlns:a="http://schemas.openxmlformats.org/drawingml/2006/main">
            <a:pPr>
              <a:defRPr sz="1575" b="0">
                <a:solidFill>
                  <a:srgbClr val="CBDBE2"/>
                </a:solidFill>
                <a:latin typeface="Arial"/>
                <a:ea typeface="Arial"/>
                <a:cs typeface="Arial"/>
              </a:defRPr>
            </a:pPr>
            <a:r>
              <a:rPr sz="1575" b="0">
                <a:solidFill>
                  <a:srgbClr val="CBDBE2"/>
                </a:solidFill>
                <a:latin typeface="Arial"/>
                <a:ea typeface="Arial"/>
                <a:cs typeface="Arial"/>
              </a:rPr>
              <a:t>Documentation · release checks</a:t>
            </a:r>
          </a:p>
        </p:txBody>
      </p:sp>
    </p:spTree>
    <p:extLst>
      <p:ext uri="{BB962C8B-B14F-4D97-AF65-F5344CB8AC3E}">
        <p14:creationId xmlns:p14="http://schemas.microsoft.com/office/powerpoint/2010/main" val="179831658"/>
      </p:ext>
    </p:extLst>
  </p:cSld>
</p:sld>
</file>

<file path=ppt/slides/slide2.xml><?xml version="1.0" encoding="utf-8"?>
<p:sld xmlns:p="http://schemas.openxmlformats.org/presentationml/2006/main">
  <p:cSld>
    <p:bg>
      <p:bgPr>
        <a:solidFill xmlns:a="http://schemas.openxmlformats.org/drawingml/2006/main">
          <a:srgbClr val="F6F9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DBA7C3A-A1ED-424B-A9A9-894A0DCD40CA}"/>
              </a:ext>
            </a:extLst>
          </p:cNvPr>
          <p:cNvSpPr>
            <a:spLocks xmlns:a="http://schemas.openxmlformats.org/drawingml/2006/main" noGrp="1"/>
          </p:cNvSpPr>
          <p:nvPr/>
        </p:nvSpPr>
        <p:spPr>
          <a:xfrm xmlns:a="http://schemas.openxmlformats.org/drawingml/2006/main">
            <a:off x="609600" y="428625"/>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Problem Statement</a:t>
            </a:r>
          </a:p>
        </p:txBody>
      </p:sp>
      <p:sp>
        <p:nvSpPr>
          <p:cNvPr id="2" name="">
            <a:extLst xmlns:a="http://schemas.openxmlformats.org/drawingml/2006/main">
              <a:ext uri="{FF2B5EF4-FFF2-40B4-BE49-F238E27FC236}">
                <a16:creationId xmlns:a16="http://schemas.microsoft.com/office/drawing/2014/main" id="{855C8DAC-3DDE-438D-BD26-1D7D4252079E}"/>
              </a:ext>
            </a:extLst>
          </p:cNvPr>
          <p:cNvSpPr>
            <a:spLocks xmlns:a="http://schemas.openxmlformats.org/drawingml/2006/main" noGrp="1"/>
          </p:cNvSpPr>
          <p:nvPr/>
        </p:nvSpPr>
        <p:spPr>
          <a:xfrm xmlns:a="http://schemas.openxmlformats.org/drawingml/2006/main">
            <a:off x="609600" y="64293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26976"/>
                </a:solidFill>
                <a:latin typeface="Arial"/>
                <a:ea typeface="Arial"/>
                <a:cs typeface="Arial"/>
              </a:defRPr>
            </a:pPr>
            <a:r>
              <a:rPr sz="1200" b="0">
                <a:solidFill>
                  <a:srgbClr val="526976"/>
                </a:solidFill>
                <a:latin typeface="Arial"/>
                <a:ea typeface="Arial"/>
                <a:cs typeface="Arial"/>
              </a:rPr>
              <a:t>OncoCatch  /  AuraMed</a:t>
            </a:r>
          </a:p>
        </p:txBody>
      </p:sp>
      <p:sp>
        <p:nvSpPr>
          <p:cNvPr id="3" name="">
            <a:extLst xmlns:a="http://schemas.openxmlformats.org/drawingml/2006/main">
              <a:ext uri="{FF2B5EF4-FFF2-40B4-BE49-F238E27FC236}">
                <a16:creationId xmlns:a16="http://schemas.microsoft.com/office/drawing/2014/main" id="{5B606750-DAF5-4AEC-9E4D-C52F50880D61}"/>
              </a:ext>
            </a:extLst>
          </p:cNvPr>
          <p:cNvSpPr>
            <a:spLocks xmlns:a="http://schemas.openxmlformats.org/drawingml/2006/main" noGrp="1"/>
          </p:cNvSpPr>
          <p:nvPr/>
        </p:nvSpPr>
        <p:spPr>
          <a:xfrm xmlns:a="http://schemas.openxmlformats.org/drawingml/2006/main">
            <a:off x="10668000" y="642937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26976"/>
                </a:solidFill>
                <a:latin typeface="Arial"/>
                <a:ea typeface="Arial"/>
                <a:cs typeface="Arial"/>
              </a:defRPr>
            </a:pPr>
            <a:r>
              <a:rPr sz="1200" b="0">
                <a:solidFill>
                  <a:srgbClr val="526976"/>
                </a:solidFill>
                <a:latin typeface="Arial"/>
                <a:ea typeface="Arial"/>
                <a:cs typeface="Arial"/>
              </a:rPr>
              <a:t>02 / 11</a:t>
            </a:r>
          </a:p>
        </p:txBody>
      </p:sp>
      <p:sp>
        <p:nvSpPr>
          <p:cNvPr id="4" name="">
            <a:extLst xmlns:a="http://schemas.openxmlformats.org/drawingml/2006/main">
              <a:ext uri="{FF2B5EF4-FFF2-40B4-BE49-F238E27FC236}">
                <a16:creationId xmlns:a16="http://schemas.microsoft.com/office/drawing/2014/main" id="{A615ADB8-3A12-40CE-A5CD-F7261D7D2D0F}"/>
              </a:ext>
            </a:extLst>
          </p:cNvPr>
          <p:cNvSpPr>
            <a:spLocks xmlns:a="http://schemas.openxmlformats.org/drawingml/2006/main" noGrp="1"/>
          </p:cNvSpPr>
          <p:nvPr/>
        </p:nvSpPr>
        <p:spPr>
          <a:xfrm xmlns:a="http://schemas.openxmlformats.org/drawingml/2006/main">
            <a:off x="609600" y="1657350"/>
            <a:ext cx="4000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5250" b="1">
                <a:solidFill>
                  <a:srgbClr val="087F83"/>
                </a:solidFill>
                <a:latin typeface="Arial"/>
                <a:ea typeface="Arial"/>
                <a:cs typeface="Arial"/>
              </a:defRPr>
            </a:pPr>
            <a:r>
              <a:rPr sz="5250" b="1">
                <a:solidFill>
                  <a:srgbClr val="087F83"/>
                </a:solidFill>
                <a:latin typeface="Arial"/>
                <a:ea typeface="Arial"/>
                <a:cs typeface="Arial"/>
              </a:rPr>
              <a:t>2.3 million</a:t>
            </a:r>
          </a:p>
        </p:txBody>
      </p:sp>
      <p:sp>
        <p:nvSpPr>
          <p:cNvPr id="5" name="">
            <a:extLst xmlns:a="http://schemas.openxmlformats.org/drawingml/2006/main">
              <a:ext uri="{FF2B5EF4-FFF2-40B4-BE49-F238E27FC236}">
                <a16:creationId xmlns:a16="http://schemas.microsoft.com/office/drawing/2014/main" id="{C3C33217-DF71-486C-AFF0-4ED5C944511C}"/>
              </a:ext>
            </a:extLst>
          </p:cNvPr>
          <p:cNvSpPr>
            <a:spLocks xmlns:a="http://schemas.openxmlformats.org/drawingml/2006/main" noGrp="1"/>
          </p:cNvSpPr>
          <p:nvPr/>
        </p:nvSpPr>
        <p:spPr>
          <a:xfrm xmlns:a="http://schemas.openxmlformats.org/drawingml/2006/main">
            <a:off x="609600" y="2657475"/>
            <a:ext cx="400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02C3C"/>
                </a:solidFill>
                <a:latin typeface="Arial"/>
                <a:ea typeface="Arial"/>
                <a:cs typeface="Arial"/>
              </a:defRPr>
            </a:pPr>
            <a:r>
              <a:rPr sz="1950" b="0">
                <a:solidFill>
                  <a:srgbClr val="102C3C"/>
                </a:solidFill>
                <a:latin typeface="Arial"/>
                <a:ea typeface="Arial"/>
                <a:cs typeface="Arial"/>
              </a:rPr>
              <a:t>new breast cancer cases worldwide</a:t>
            </a:r>
          </a:p>
          <a:p xmlns:a="http://schemas.openxmlformats.org/drawingml/2006/main">
            <a:pPr>
              <a:defRPr sz="1950" b="0">
                <a:solidFill>
                  <a:srgbClr val="102C3C"/>
                </a:solidFill>
                <a:latin typeface="Arial"/>
                <a:ea typeface="Arial"/>
                <a:cs typeface="Arial"/>
              </a:defRPr>
            </a:pPr>
            <a:r>
              <a:rPr sz="1950" b="0">
                <a:solidFill>
                  <a:srgbClr val="102C3C"/>
                </a:solidFill>
                <a:latin typeface="Arial"/>
                <a:ea typeface="Arial"/>
                <a:cs typeface="Arial"/>
              </a:rPr>
              <a:t>in 2022</a:t>
            </a:r>
          </a:p>
        </p:txBody>
      </p:sp>
      <p:sp>
        <p:nvSpPr>
          <p:cNvPr id="6" name="">
            <a:extLst xmlns:a="http://schemas.openxmlformats.org/drawingml/2006/main">
              <a:ext uri="{FF2B5EF4-FFF2-40B4-BE49-F238E27FC236}">
                <a16:creationId xmlns:a16="http://schemas.microsoft.com/office/drawing/2014/main" id="{D29C73C5-6425-4ED1-AD93-54C9AE197DA1}"/>
              </a:ext>
            </a:extLst>
          </p:cNvPr>
          <p:cNvSpPr>
            <a:spLocks xmlns:a="http://schemas.openxmlformats.org/drawingml/2006/main" noGrp="1"/>
          </p:cNvSpPr>
          <p:nvPr/>
        </p:nvSpPr>
        <p:spPr>
          <a:xfrm xmlns:a="http://schemas.openxmlformats.org/drawingml/2006/main">
            <a:off x="609600" y="3657600"/>
            <a:ext cx="371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02C3C"/>
                </a:solidFill>
                <a:latin typeface="Arial"/>
                <a:ea typeface="Arial"/>
                <a:cs typeface="Arial"/>
              </a:defRPr>
            </a:pPr>
            <a:r>
              <a:rPr sz="2100" b="1">
                <a:solidFill>
                  <a:srgbClr val="102C3C"/>
                </a:solidFill>
                <a:latin typeface="Arial"/>
                <a:ea typeface="Arial"/>
                <a:cs typeface="Arial"/>
              </a:rPr>
              <a:t>Early detection and timely care matter.</a:t>
            </a:r>
          </a:p>
        </p:txBody>
      </p:sp>
      <p:sp>
        <p:nvSpPr>
          <p:cNvPr id="7" name="">
            <a:extLst xmlns:a="http://schemas.openxmlformats.org/drawingml/2006/main">
              <a:ext uri="{FF2B5EF4-FFF2-40B4-BE49-F238E27FC236}">
                <a16:creationId xmlns:a16="http://schemas.microsoft.com/office/drawing/2014/main" id="{BC86B111-62B1-40B8-B694-A93AC6673C66}"/>
              </a:ext>
            </a:extLst>
          </p:cNvPr>
          <p:cNvSpPr>
            <a:spLocks xmlns:a="http://schemas.openxmlformats.org/drawingml/2006/main" noGrp="1"/>
          </p:cNvSpPr>
          <p:nvPr/>
        </p:nvSpPr>
        <p:spPr>
          <a:xfrm xmlns:a="http://schemas.openxmlformats.org/drawingml/2006/main">
            <a:off x="609600" y="541020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26976"/>
                </a:solidFill>
                <a:latin typeface="Arial"/>
                <a:ea typeface="Arial"/>
                <a:cs typeface="Arial"/>
              </a:defRPr>
            </a:pPr>
            <a:r>
              <a:rPr sz="1275" b="0">
                <a:solidFill>
                  <a:srgbClr val="526976"/>
                </a:solidFill>
                <a:latin typeface="Arial"/>
                <a:ea typeface="Arial"/>
                <a:cs typeface="Arial"/>
              </a:rPr>
              <a:t>IARC, 2025 analysis of 2022 estimates</a:t>
            </a:r>
          </a:p>
        </p:txBody>
      </p:sp>
      <p:sp>
        <p:nvSpPr>
          <p:cNvPr id="8" name="">
            <a:extLst xmlns:a="http://schemas.openxmlformats.org/drawingml/2006/main">
              <a:ext uri="{FF2B5EF4-FFF2-40B4-BE49-F238E27FC236}">
                <a16:creationId xmlns:a16="http://schemas.microsoft.com/office/drawing/2014/main" id="{5D32A23C-1991-43CC-BACF-35360DADB8BE}"/>
              </a:ext>
            </a:extLst>
          </p:cNvPr>
          <p:cNvSpPr>
            <a:spLocks xmlns:a="http://schemas.openxmlformats.org/drawingml/2006/main" noGrp="1"/>
          </p:cNvSpPr>
          <p:nvPr/>
        </p:nvSpPr>
        <p:spPr>
          <a:xfrm xmlns:a="http://schemas.openxmlformats.org/drawingml/2006/main">
            <a:off x="5238750" y="1571625"/>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087F83"/>
                </a:solidFill>
                <a:latin typeface="Arial"/>
                <a:ea typeface="Arial"/>
                <a:cs typeface="Arial"/>
              </a:defRPr>
            </a:pPr>
            <a:r>
              <a:rPr sz="1725" b="1">
                <a:solidFill>
                  <a:srgbClr val="087F83"/>
                </a:solidFill>
                <a:latin typeface="Arial"/>
                <a:ea typeface="Arial"/>
                <a:cs typeface="Arial"/>
              </a:rPr>
              <a:t>Illustrative clinic scenario</a:t>
            </a:r>
          </a:p>
        </p:txBody>
      </p:sp>
      <p:sp>
        <p:nvSpPr>
          <p:cNvPr id="9" name="">
            <a:extLst xmlns:a="http://schemas.openxmlformats.org/drawingml/2006/main">
              <a:ext uri="{FF2B5EF4-FFF2-40B4-BE49-F238E27FC236}">
                <a16:creationId xmlns:a16="http://schemas.microsoft.com/office/drawing/2014/main" id="{46E2C9FB-DCE1-4519-936B-7331BD45F3E6}"/>
              </a:ext>
            </a:extLst>
          </p:cNvPr>
          <p:cNvSpPr>
            <a:spLocks xmlns:a="http://schemas.openxmlformats.org/drawingml/2006/main" noGrp="1"/>
          </p:cNvSpPr>
          <p:nvPr/>
        </p:nvSpPr>
        <p:spPr>
          <a:xfrm xmlns:a="http://schemas.openxmlformats.org/drawingml/2006/main">
            <a:off x="5238750" y="2057400"/>
            <a:ext cx="6286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02C3C"/>
                </a:solidFill>
                <a:latin typeface="Arial"/>
                <a:ea typeface="Arial"/>
                <a:cs typeface="Arial"/>
              </a:defRPr>
            </a:pPr>
            <a:r>
              <a:rPr sz="2325" b="1">
                <a:solidFill>
                  <a:srgbClr val="102C3C"/>
                </a:solidFill>
                <a:latin typeface="Arial"/>
                <a:ea typeface="Arial"/>
                <a:cs typeface="Arial"/>
              </a:rPr>
              <a:t>A patient’s scan, clinical history and next</a:t>
            </a:r>
          </a:p>
          <a:p xmlns:a="http://schemas.openxmlformats.org/drawingml/2006/main">
            <a:pPr>
              <a:defRPr sz="2325" b="1">
                <a:solidFill>
                  <a:srgbClr val="102C3C"/>
                </a:solidFill>
                <a:latin typeface="Arial"/>
                <a:ea typeface="Arial"/>
                <a:cs typeface="Arial"/>
              </a:defRPr>
            </a:pPr>
            <a:r>
              <a:rPr sz="2325" b="1">
                <a:solidFill>
                  <a:srgbClr val="102C3C"/>
                </a:solidFill>
                <a:latin typeface="Arial"/>
                <a:ea typeface="Arial"/>
                <a:cs typeface="Arial"/>
              </a:rPr>
              <a:t>appointment sit in separate steps.</a:t>
            </a:r>
          </a:p>
        </p:txBody>
      </p:sp>
      <p:sp>
        <p:nvSpPr>
          <p:cNvPr id="10" name="">
            <a:extLst xmlns:a="http://schemas.openxmlformats.org/drawingml/2006/main">
              <a:ext uri="{FF2B5EF4-FFF2-40B4-BE49-F238E27FC236}">
                <a16:creationId xmlns:a16="http://schemas.microsoft.com/office/drawing/2014/main" id="{1832E61B-63F5-48B5-B893-18C3DEB70477}"/>
              </a:ext>
            </a:extLst>
          </p:cNvPr>
          <p:cNvSpPr>
            <a:spLocks xmlns:a="http://schemas.openxmlformats.org/drawingml/2006/main" noGrp="1"/>
          </p:cNvSpPr>
          <p:nvPr/>
        </p:nvSpPr>
        <p:spPr>
          <a:xfrm xmlns:a="http://schemas.openxmlformats.org/drawingml/2006/main">
            <a:off x="5238750" y="3238500"/>
            <a:ext cx="119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087F83"/>
                </a:solidFill>
                <a:latin typeface="Arial"/>
                <a:ea typeface="Arial"/>
                <a:cs typeface="Arial"/>
              </a:defRPr>
            </a:pPr>
            <a:r>
              <a:rPr sz="1800" b="1">
                <a:solidFill>
                  <a:srgbClr val="087F83"/>
                </a:solidFill>
                <a:latin typeface="Arial"/>
                <a:ea typeface="Arial"/>
                <a:cs typeface="Arial"/>
              </a:rPr>
              <a:t>Doctor</a:t>
            </a:r>
          </a:p>
        </p:txBody>
      </p:sp>
      <p:sp>
        <p:nvSpPr>
          <p:cNvPr id="11" name="">
            <a:extLst xmlns:a="http://schemas.openxmlformats.org/drawingml/2006/main">
              <a:ext uri="{FF2B5EF4-FFF2-40B4-BE49-F238E27FC236}">
                <a16:creationId xmlns:a16="http://schemas.microsoft.com/office/drawing/2014/main" id="{09EFBEFE-BA01-49D4-847E-3B39E9B7CB36}"/>
              </a:ext>
            </a:extLst>
          </p:cNvPr>
          <p:cNvSpPr>
            <a:spLocks xmlns:a="http://schemas.openxmlformats.org/drawingml/2006/main" noGrp="1"/>
          </p:cNvSpPr>
          <p:nvPr/>
        </p:nvSpPr>
        <p:spPr>
          <a:xfrm xmlns:a="http://schemas.openxmlformats.org/drawingml/2006/main">
            <a:off x="6667500" y="32385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102C3C"/>
                </a:solidFill>
                <a:latin typeface="Arial"/>
                <a:ea typeface="Arial"/>
                <a:cs typeface="Arial"/>
              </a:defRPr>
            </a:pPr>
            <a:r>
              <a:rPr sz="1725" b="0">
                <a:solidFill>
                  <a:srgbClr val="102C3C"/>
                </a:solidFill>
                <a:latin typeface="Arial"/>
                <a:ea typeface="Arial"/>
                <a:cs typeface="Arial"/>
              </a:rPr>
              <a:t>Needs image findings and risk factors together.</a:t>
            </a:r>
          </a:p>
        </p:txBody>
      </p:sp>
      <p:sp>
        <p:nvSpPr>
          <p:cNvPr id="12" name="">
            <a:extLst xmlns:a="http://schemas.openxmlformats.org/drawingml/2006/main">
              <a:ext uri="{FF2B5EF4-FFF2-40B4-BE49-F238E27FC236}">
                <a16:creationId xmlns:a16="http://schemas.microsoft.com/office/drawing/2014/main" id="{216FDA99-FF54-463C-A19A-F8FA179D3963}"/>
              </a:ext>
            </a:extLst>
          </p:cNvPr>
          <p:cNvSpPr>
            <a:spLocks xmlns:a="http://schemas.openxmlformats.org/drawingml/2006/main" noGrp="1"/>
          </p:cNvSpPr>
          <p:nvPr/>
        </p:nvSpPr>
        <p:spPr>
          <a:xfrm xmlns:a="http://schemas.openxmlformats.org/drawingml/2006/main">
            <a:off x="5238750" y="3962400"/>
            <a:ext cx="6191250" cy="0"/>
          </a:xfrm>
          <a:prstGeom xmlns:a="http://schemas.openxmlformats.org/drawingml/2006/main" prst="line">
            <a:avLst/>
          </a:prstGeom>
          <a:noFill xmlns:a="http://schemas.openxmlformats.org/drawingml/2006/main"/>
          <a:ln xmlns:a="http://schemas.openxmlformats.org/drawingml/2006/main" w="14288">
            <a:solidFill>
              <a:srgbClr val="B9CDCF"/>
            </a:solidFill>
          </a:ln>
        </p:spPr>
      </p:sp>
      <p:sp>
        <p:nvSpPr>
          <p:cNvPr id="13" name="">
            <a:extLst xmlns:a="http://schemas.openxmlformats.org/drawingml/2006/main">
              <a:ext uri="{FF2B5EF4-FFF2-40B4-BE49-F238E27FC236}">
                <a16:creationId xmlns:a16="http://schemas.microsoft.com/office/drawing/2014/main" id="{0B74AE0B-074B-4104-972A-32BA4882E2E8}"/>
              </a:ext>
            </a:extLst>
          </p:cNvPr>
          <p:cNvSpPr>
            <a:spLocks xmlns:a="http://schemas.openxmlformats.org/drawingml/2006/main" noGrp="1"/>
          </p:cNvSpPr>
          <p:nvPr/>
        </p:nvSpPr>
        <p:spPr>
          <a:xfrm xmlns:a="http://schemas.openxmlformats.org/drawingml/2006/main">
            <a:off x="5238750" y="4143375"/>
            <a:ext cx="119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087F83"/>
                </a:solidFill>
                <a:latin typeface="Arial"/>
                <a:ea typeface="Arial"/>
                <a:cs typeface="Arial"/>
              </a:defRPr>
            </a:pPr>
            <a:r>
              <a:rPr sz="1800" b="1">
                <a:solidFill>
                  <a:srgbClr val="087F83"/>
                </a:solidFill>
                <a:latin typeface="Arial"/>
                <a:ea typeface="Arial"/>
                <a:cs typeface="Arial"/>
              </a:rPr>
              <a:t>Patient</a:t>
            </a:r>
          </a:p>
        </p:txBody>
      </p:sp>
      <p:sp>
        <p:nvSpPr>
          <p:cNvPr id="14" name="">
            <a:extLst xmlns:a="http://schemas.openxmlformats.org/drawingml/2006/main">
              <a:ext uri="{FF2B5EF4-FFF2-40B4-BE49-F238E27FC236}">
                <a16:creationId xmlns:a16="http://schemas.microsoft.com/office/drawing/2014/main" id="{D0739C17-057B-4449-AAFC-C48173382B8D}"/>
              </a:ext>
            </a:extLst>
          </p:cNvPr>
          <p:cNvSpPr>
            <a:spLocks xmlns:a="http://schemas.openxmlformats.org/drawingml/2006/main" noGrp="1"/>
          </p:cNvSpPr>
          <p:nvPr/>
        </p:nvSpPr>
        <p:spPr>
          <a:xfrm xmlns:a="http://schemas.openxmlformats.org/drawingml/2006/main">
            <a:off x="6667500" y="4143375"/>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102C3C"/>
                </a:solidFill>
                <a:latin typeface="Arial"/>
                <a:ea typeface="Arial"/>
                <a:cs typeface="Arial"/>
              </a:defRPr>
            </a:pPr>
            <a:r>
              <a:rPr sz="1725" b="0">
                <a:solidFill>
                  <a:srgbClr val="102C3C"/>
                </a:solidFill>
                <a:latin typeface="Arial"/>
                <a:ea typeface="Arial"/>
                <a:cs typeface="Arial"/>
              </a:rPr>
              <a:t>Needs an understandable report and next step.</a:t>
            </a:r>
          </a:p>
        </p:txBody>
      </p:sp>
      <p:sp>
        <p:nvSpPr>
          <p:cNvPr id="15" name="">
            <a:extLst xmlns:a="http://schemas.openxmlformats.org/drawingml/2006/main">
              <a:ext uri="{FF2B5EF4-FFF2-40B4-BE49-F238E27FC236}">
                <a16:creationId xmlns:a16="http://schemas.microsoft.com/office/drawing/2014/main" id="{FB4200DD-D9DC-4970-B1AE-963BA1058B53}"/>
              </a:ext>
            </a:extLst>
          </p:cNvPr>
          <p:cNvSpPr>
            <a:spLocks xmlns:a="http://schemas.openxmlformats.org/drawingml/2006/main" noGrp="1"/>
          </p:cNvSpPr>
          <p:nvPr/>
        </p:nvSpPr>
        <p:spPr>
          <a:xfrm xmlns:a="http://schemas.openxmlformats.org/drawingml/2006/main">
            <a:off x="5238750" y="4867275"/>
            <a:ext cx="6191250" cy="0"/>
          </a:xfrm>
          <a:prstGeom xmlns:a="http://schemas.openxmlformats.org/drawingml/2006/main" prst="line">
            <a:avLst/>
          </a:prstGeom>
          <a:noFill xmlns:a="http://schemas.openxmlformats.org/drawingml/2006/main"/>
          <a:ln xmlns:a="http://schemas.openxmlformats.org/drawingml/2006/main" w="14288">
            <a:solidFill>
              <a:srgbClr val="B9CDCF"/>
            </a:solidFill>
          </a:ln>
        </p:spPr>
      </p:sp>
      <p:sp>
        <p:nvSpPr>
          <p:cNvPr id="16" name="">
            <a:extLst xmlns:a="http://schemas.openxmlformats.org/drawingml/2006/main">
              <a:ext uri="{FF2B5EF4-FFF2-40B4-BE49-F238E27FC236}">
                <a16:creationId xmlns:a16="http://schemas.microsoft.com/office/drawing/2014/main" id="{5DCF4181-0E5C-43C5-ABDD-25E09AA22FEF}"/>
              </a:ext>
            </a:extLst>
          </p:cNvPr>
          <p:cNvSpPr>
            <a:spLocks xmlns:a="http://schemas.openxmlformats.org/drawingml/2006/main" noGrp="1"/>
          </p:cNvSpPr>
          <p:nvPr/>
        </p:nvSpPr>
        <p:spPr>
          <a:xfrm xmlns:a="http://schemas.openxmlformats.org/drawingml/2006/main">
            <a:off x="5238750" y="5048250"/>
            <a:ext cx="119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087F83"/>
                </a:solidFill>
                <a:latin typeface="Arial"/>
                <a:ea typeface="Arial"/>
                <a:cs typeface="Arial"/>
              </a:defRPr>
            </a:pPr>
            <a:r>
              <a:rPr sz="1800" b="1">
                <a:solidFill>
                  <a:srgbClr val="087F83"/>
                </a:solidFill>
                <a:latin typeface="Arial"/>
                <a:ea typeface="Arial"/>
                <a:cs typeface="Arial"/>
              </a:rPr>
              <a:t>Clinic</a:t>
            </a:r>
          </a:p>
        </p:txBody>
      </p:sp>
      <p:sp>
        <p:nvSpPr>
          <p:cNvPr id="17" name="">
            <a:extLst xmlns:a="http://schemas.openxmlformats.org/drawingml/2006/main">
              <a:ext uri="{FF2B5EF4-FFF2-40B4-BE49-F238E27FC236}">
                <a16:creationId xmlns:a16="http://schemas.microsoft.com/office/drawing/2014/main" id="{F930D06B-2A02-442E-A705-050B4F345A74}"/>
              </a:ext>
            </a:extLst>
          </p:cNvPr>
          <p:cNvSpPr>
            <a:spLocks xmlns:a="http://schemas.openxmlformats.org/drawingml/2006/main" noGrp="1"/>
          </p:cNvSpPr>
          <p:nvPr/>
        </p:nvSpPr>
        <p:spPr>
          <a:xfrm xmlns:a="http://schemas.openxmlformats.org/drawingml/2006/main">
            <a:off x="6667500" y="504825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102C3C"/>
                </a:solidFill>
                <a:latin typeface="Arial"/>
                <a:ea typeface="Arial"/>
                <a:cs typeface="Arial"/>
              </a:defRPr>
            </a:pPr>
            <a:r>
              <a:rPr sz="1725" b="0">
                <a:solidFill>
                  <a:srgbClr val="102C3C"/>
                </a:solidFill>
                <a:latin typeface="Arial"/>
                <a:ea typeface="Arial"/>
                <a:cs typeface="Arial"/>
              </a:rPr>
              <a:t>Needs a record of review, sharing and follow-up.</a:t>
            </a:r>
          </a:p>
        </p:txBody>
      </p:sp>
    </p:spTree>
    <p:extLst>
      <p:ext uri="{BB962C8B-B14F-4D97-AF65-F5344CB8AC3E}">
        <p14:creationId xmlns:p14="http://schemas.microsoft.com/office/powerpoint/2010/main" val="607244753"/>
      </p:ext>
    </p:extLst>
  </p:cSld>
</p:sld>
</file>

<file path=ppt/slides/slide3.xml><?xml version="1.0" encoding="utf-8"?>
<p:sld xmlns:p="http://schemas.openxmlformats.org/presentationml/2006/main">
  <p:cSld>
    <p:bg>
      <p:bgPr>
        <a:solidFill xmlns:a="http://schemas.openxmlformats.org/drawingml/2006/main">
          <a:srgbClr val="F6F9F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B84C542-BBE9-4A31-B39C-58855AC77DDD}"/>
              </a:ext>
            </a:extLst>
          </p:cNvPr>
          <p:cNvSpPr>
            <a:spLocks xmlns:a="http://schemas.openxmlformats.org/drawingml/2006/main" noGrp="1"/>
          </p:cNvSpPr>
          <p:nvPr/>
        </p:nvSpPr>
        <p:spPr>
          <a:xfrm xmlns:a="http://schemas.openxmlformats.org/drawingml/2006/main">
            <a:off x="609600" y="428625"/>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Proposed Solution</a:t>
            </a:r>
          </a:p>
        </p:txBody>
      </p:sp>
      <p:sp>
        <p:nvSpPr>
          <p:cNvPr id="2" name="">
            <a:extLst xmlns:a="http://schemas.openxmlformats.org/drawingml/2006/main">
              <a:ext uri="{FF2B5EF4-FFF2-40B4-BE49-F238E27FC236}">
                <a16:creationId xmlns:a16="http://schemas.microsoft.com/office/drawing/2014/main" id="{46ABC2E8-4935-4EAD-80E7-CC0B33DC72C8}"/>
              </a:ext>
            </a:extLst>
          </p:cNvPr>
          <p:cNvSpPr>
            <a:spLocks xmlns:a="http://schemas.openxmlformats.org/drawingml/2006/main" noGrp="1"/>
          </p:cNvSpPr>
          <p:nvPr/>
        </p:nvSpPr>
        <p:spPr>
          <a:xfrm xmlns:a="http://schemas.openxmlformats.org/drawingml/2006/main">
            <a:off x="609600" y="64293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26976"/>
                </a:solidFill>
                <a:latin typeface="Arial"/>
                <a:ea typeface="Arial"/>
                <a:cs typeface="Arial"/>
              </a:defRPr>
            </a:pPr>
            <a:r>
              <a:rPr sz="1200" b="0">
                <a:solidFill>
                  <a:srgbClr val="526976"/>
                </a:solidFill>
                <a:latin typeface="Arial"/>
                <a:ea typeface="Arial"/>
                <a:cs typeface="Arial"/>
              </a:rPr>
              <a:t>OncoCatch  /  AuraMed</a:t>
            </a:r>
          </a:p>
        </p:txBody>
      </p:sp>
      <p:sp>
        <p:nvSpPr>
          <p:cNvPr id="3" name="">
            <a:extLst xmlns:a="http://schemas.openxmlformats.org/drawingml/2006/main">
              <a:ext uri="{FF2B5EF4-FFF2-40B4-BE49-F238E27FC236}">
                <a16:creationId xmlns:a16="http://schemas.microsoft.com/office/drawing/2014/main" id="{395D168B-46CB-42B6-B871-1DC53246FC43}"/>
              </a:ext>
            </a:extLst>
          </p:cNvPr>
          <p:cNvSpPr>
            <a:spLocks xmlns:a="http://schemas.openxmlformats.org/drawingml/2006/main" noGrp="1"/>
          </p:cNvSpPr>
          <p:nvPr/>
        </p:nvSpPr>
        <p:spPr>
          <a:xfrm xmlns:a="http://schemas.openxmlformats.org/drawingml/2006/main">
            <a:off x="10668000" y="642937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26976"/>
                </a:solidFill>
                <a:latin typeface="Arial"/>
                <a:ea typeface="Arial"/>
                <a:cs typeface="Arial"/>
              </a:defRPr>
            </a:pPr>
            <a:r>
              <a:rPr sz="1200" b="0">
                <a:solidFill>
                  <a:srgbClr val="526976"/>
                </a:solidFill>
                <a:latin typeface="Arial"/>
                <a:ea typeface="Arial"/>
                <a:cs typeface="Arial"/>
              </a:rPr>
              <a:t>03 / 11</a:t>
            </a:r>
          </a:p>
        </p:txBody>
      </p:sp>
      <p:sp>
        <p:nvSpPr>
          <p:cNvPr id="4" name="">
            <a:extLst xmlns:a="http://schemas.openxmlformats.org/drawingml/2006/main">
              <a:ext uri="{FF2B5EF4-FFF2-40B4-BE49-F238E27FC236}">
                <a16:creationId xmlns:a16="http://schemas.microsoft.com/office/drawing/2014/main" id="{94BFB41C-0707-43DE-8A21-E6A57FA99EB2}"/>
              </a:ext>
            </a:extLst>
          </p:cNvPr>
          <p:cNvSpPr>
            <a:spLocks xmlns:a="http://schemas.openxmlformats.org/drawingml/2006/main" noGrp="1"/>
          </p:cNvSpPr>
          <p:nvPr/>
        </p:nvSpPr>
        <p:spPr>
          <a:xfrm xmlns:a="http://schemas.openxmlformats.org/drawingml/2006/main">
            <a:off x="609600" y="1304925"/>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526976"/>
                </a:solidFill>
                <a:latin typeface="Arial"/>
                <a:ea typeface="Arial"/>
                <a:cs typeface="Arial"/>
              </a:defRPr>
            </a:pPr>
            <a:r>
              <a:rPr sz="2025" b="0">
                <a:solidFill>
                  <a:srgbClr val="526976"/>
                </a:solidFill>
                <a:latin typeface="Arial"/>
                <a:ea typeface="Arial"/>
                <a:cs typeface="Arial"/>
              </a:rPr>
              <a:t>Image evidence and clinical context meet before the report is finalized.</a:t>
            </a:r>
          </a:p>
        </p:txBody>
      </p:sp>
      <p:sp>
        <p:nvSpPr>
          <p:cNvPr id="5" name="">
            <a:extLst xmlns:a="http://schemas.openxmlformats.org/drawingml/2006/main">
              <a:ext uri="{FF2B5EF4-FFF2-40B4-BE49-F238E27FC236}">
                <a16:creationId xmlns:a16="http://schemas.microsoft.com/office/drawing/2014/main" id="{F60BA382-FF58-4892-9FFC-32D161B51474}"/>
              </a:ext>
            </a:extLst>
          </p:cNvPr>
          <p:cNvSpPr>
            <a:spLocks xmlns:a="http://schemas.openxmlformats.org/drawingml/2006/main" noGrp="1"/>
          </p:cNvSpPr>
          <p:nvPr/>
        </p:nvSpPr>
        <p:spPr>
          <a:xfrm xmlns:a="http://schemas.openxmlformats.org/drawingml/2006/main">
            <a:off x="609600" y="2143125"/>
            <a:ext cx="114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087F83"/>
                </a:solidFill>
                <a:latin typeface="Arial"/>
                <a:ea typeface="Arial"/>
                <a:cs typeface="Arial"/>
              </a:defRPr>
            </a:pPr>
            <a:r>
              <a:rPr sz="3225" b="1">
                <a:solidFill>
                  <a:srgbClr val="087F83"/>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180A7932-E1DF-4027-8598-6AB88F79E0D2}"/>
              </a:ext>
            </a:extLst>
          </p:cNvPr>
          <p:cNvSpPr>
            <a:spLocks xmlns:a="http://schemas.openxmlformats.org/drawingml/2006/main" noGrp="1"/>
          </p:cNvSpPr>
          <p:nvPr/>
        </p:nvSpPr>
        <p:spPr>
          <a:xfrm xmlns:a="http://schemas.openxmlformats.org/drawingml/2006/main">
            <a:off x="609600" y="2876550"/>
            <a:ext cx="233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02C3C"/>
                </a:solidFill>
                <a:latin typeface="Arial"/>
                <a:ea typeface="Arial"/>
                <a:cs typeface="Arial"/>
              </a:defRPr>
            </a:pPr>
            <a:r>
              <a:rPr sz="2250" b="1">
                <a:solidFill>
                  <a:srgbClr val="102C3C"/>
                </a:solidFill>
                <a:latin typeface="Arial"/>
                <a:ea typeface="Arial"/>
                <a:cs typeface="Arial"/>
              </a:rPr>
              <a:t>Prepare</a:t>
            </a:r>
          </a:p>
        </p:txBody>
      </p:sp>
      <p:sp>
        <p:nvSpPr>
          <p:cNvPr id="7" name="">
            <a:extLst xmlns:a="http://schemas.openxmlformats.org/drawingml/2006/main">
              <a:ext uri="{FF2B5EF4-FFF2-40B4-BE49-F238E27FC236}">
                <a16:creationId xmlns:a16="http://schemas.microsoft.com/office/drawing/2014/main" id="{12DAEFBA-7E98-4A47-8C30-35AFC90A59A3}"/>
              </a:ext>
            </a:extLst>
          </p:cNvPr>
          <p:cNvSpPr>
            <a:spLocks xmlns:a="http://schemas.openxmlformats.org/drawingml/2006/main" noGrp="1"/>
          </p:cNvSpPr>
          <p:nvPr/>
        </p:nvSpPr>
        <p:spPr>
          <a:xfrm xmlns:a="http://schemas.openxmlformats.org/drawingml/2006/main">
            <a:off x="609600" y="3467100"/>
            <a:ext cx="23431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26976"/>
                </a:solidFill>
                <a:latin typeface="Arial"/>
                <a:ea typeface="Arial"/>
                <a:cs typeface="Arial"/>
              </a:defRPr>
            </a:pPr>
            <a:r>
              <a:rPr sz="1725" b="0">
                <a:solidFill>
                  <a:srgbClr val="526976"/>
                </a:solidFill>
                <a:latin typeface="Arial"/>
                <a:ea typeface="Arial"/>
                <a:cs typeface="Arial"/>
              </a:rPr>
              <a:t>Select patient</a:t>
            </a:r>
          </a:p>
          <a:p xmlns:a="http://schemas.openxmlformats.org/drawingml/2006/main">
            <a:pPr>
              <a:defRPr sz="1725" b="0">
                <a:solidFill>
                  <a:srgbClr val="526976"/>
                </a:solidFill>
                <a:latin typeface="Arial"/>
                <a:ea typeface="Arial"/>
                <a:cs typeface="Arial"/>
              </a:defRPr>
            </a:pPr>
            <a:r>
              <a:rPr sz="1725" b="0">
                <a:solidFill>
                  <a:srgbClr val="526976"/>
                </a:solidFill>
                <a:latin typeface="Arial"/>
                <a:ea typeface="Arial"/>
                <a:cs typeface="Arial"/>
              </a:rPr>
              <a:t>Scan + clinical inputs</a:t>
            </a:r>
          </a:p>
        </p:txBody>
      </p:sp>
      <p:sp>
        <p:nvSpPr>
          <p:cNvPr id="8" name="">
            <a:extLst xmlns:a="http://schemas.openxmlformats.org/drawingml/2006/main">
              <a:ext uri="{FF2B5EF4-FFF2-40B4-BE49-F238E27FC236}">
                <a16:creationId xmlns:a16="http://schemas.microsoft.com/office/drawing/2014/main" id="{6416A123-54D2-43F6-A29C-863C9BDE5BFB}"/>
              </a:ext>
            </a:extLst>
          </p:cNvPr>
          <p:cNvSpPr>
            <a:spLocks xmlns:a="http://schemas.openxmlformats.org/drawingml/2006/main" noGrp="1"/>
          </p:cNvSpPr>
          <p:nvPr/>
        </p:nvSpPr>
        <p:spPr>
          <a:xfrm xmlns:a="http://schemas.openxmlformats.org/drawingml/2006/main">
            <a:off x="2914650" y="2476500"/>
            <a:ext cx="371475" cy="152400"/>
          </a:xfrm>
          <a:prstGeom xmlns:a="http://schemas.openxmlformats.org/drawingml/2006/main" prst="rightArrow">
            <a:avLst/>
          </a:prstGeom>
          <a:solidFill xmlns:a="http://schemas.openxmlformats.org/drawingml/2006/main">
            <a:srgbClr val="087F8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005520C-5AE6-4CD6-957A-FEBB344A3FD2}"/>
              </a:ext>
            </a:extLst>
          </p:cNvPr>
          <p:cNvSpPr>
            <a:spLocks xmlns:a="http://schemas.openxmlformats.org/drawingml/2006/main" noGrp="1"/>
          </p:cNvSpPr>
          <p:nvPr/>
        </p:nvSpPr>
        <p:spPr>
          <a:xfrm xmlns:a="http://schemas.openxmlformats.org/drawingml/2006/main">
            <a:off x="3486150" y="2143125"/>
            <a:ext cx="114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087F83"/>
                </a:solidFill>
                <a:latin typeface="Arial"/>
                <a:ea typeface="Arial"/>
                <a:cs typeface="Arial"/>
              </a:defRPr>
            </a:pPr>
            <a:r>
              <a:rPr sz="3225" b="1">
                <a:solidFill>
                  <a:srgbClr val="087F83"/>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2B49413A-1F45-4A02-B8A1-068530F3317F}"/>
              </a:ext>
            </a:extLst>
          </p:cNvPr>
          <p:cNvSpPr>
            <a:spLocks xmlns:a="http://schemas.openxmlformats.org/drawingml/2006/main" noGrp="1"/>
          </p:cNvSpPr>
          <p:nvPr/>
        </p:nvSpPr>
        <p:spPr>
          <a:xfrm xmlns:a="http://schemas.openxmlformats.org/drawingml/2006/main">
            <a:off x="3486150" y="2876550"/>
            <a:ext cx="233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02C3C"/>
                </a:solidFill>
                <a:latin typeface="Arial"/>
                <a:ea typeface="Arial"/>
                <a:cs typeface="Arial"/>
              </a:defRPr>
            </a:pPr>
            <a:r>
              <a:rPr sz="2250" b="1">
                <a:solidFill>
                  <a:srgbClr val="102C3C"/>
                </a:solidFill>
                <a:latin typeface="Arial"/>
                <a:ea typeface="Arial"/>
                <a:cs typeface="Arial"/>
              </a:rPr>
              <a:t>Analyze</a:t>
            </a:r>
          </a:p>
        </p:txBody>
      </p:sp>
      <p:sp>
        <p:nvSpPr>
          <p:cNvPr id="11" name="">
            <a:extLst xmlns:a="http://schemas.openxmlformats.org/drawingml/2006/main">
              <a:ext uri="{FF2B5EF4-FFF2-40B4-BE49-F238E27FC236}">
                <a16:creationId xmlns:a16="http://schemas.microsoft.com/office/drawing/2014/main" id="{33F5AC04-BFC0-43D8-932C-27B7AA230DFC}"/>
              </a:ext>
            </a:extLst>
          </p:cNvPr>
          <p:cNvSpPr>
            <a:spLocks xmlns:a="http://schemas.openxmlformats.org/drawingml/2006/main" noGrp="1"/>
          </p:cNvSpPr>
          <p:nvPr/>
        </p:nvSpPr>
        <p:spPr>
          <a:xfrm xmlns:a="http://schemas.openxmlformats.org/drawingml/2006/main">
            <a:off x="3486150" y="3467100"/>
            <a:ext cx="23431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26976"/>
                </a:solidFill>
                <a:latin typeface="Arial"/>
                <a:ea typeface="Arial"/>
                <a:cs typeface="Arial"/>
              </a:defRPr>
            </a:pPr>
            <a:r>
              <a:rPr sz="1725" b="0">
                <a:solidFill>
                  <a:srgbClr val="526976"/>
                </a:solidFill>
                <a:latin typeface="Arial"/>
                <a:ea typeface="Arial"/>
                <a:cs typeface="Arial"/>
              </a:rPr>
              <a:t>Image quality check</a:t>
            </a:r>
          </a:p>
          <a:p xmlns:a="http://schemas.openxmlformats.org/drawingml/2006/main">
            <a:pPr>
              <a:defRPr sz="1725" b="0">
                <a:solidFill>
                  <a:srgbClr val="526976"/>
                </a:solidFill>
                <a:latin typeface="Arial"/>
                <a:ea typeface="Arial"/>
                <a:cs typeface="Arial"/>
              </a:defRPr>
            </a:pPr>
            <a:r>
              <a:rPr sz="1725" b="0">
                <a:solidFill>
                  <a:srgbClr val="526976"/>
                </a:solidFill>
                <a:latin typeface="Arial"/>
                <a:ea typeface="Arial"/>
                <a:cs typeface="Arial"/>
              </a:rPr>
              <a:t>Models + clinical scoring</a:t>
            </a:r>
          </a:p>
        </p:txBody>
      </p:sp>
      <p:sp>
        <p:nvSpPr>
          <p:cNvPr id="12" name="">
            <a:extLst xmlns:a="http://schemas.openxmlformats.org/drawingml/2006/main">
              <a:ext uri="{FF2B5EF4-FFF2-40B4-BE49-F238E27FC236}">
                <a16:creationId xmlns:a16="http://schemas.microsoft.com/office/drawing/2014/main" id="{35AD0CB0-8CAE-4217-8EF6-9C964444AB12}"/>
              </a:ext>
            </a:extLst>
          </p:cNvPr>
          <p:cNvSpPr>
            <a:spLocks xmlns:a="http://schemas.openxmlformats.org/drawingml/2006/main" noGrp="1"/>
          </p:cNvSpPr>
          <p:nvPr/>
        </p:nvSpPr>
        <p:spPr>
          <a:xfrm xmlns:a="http://schemas.openxmlformats.org/drawingml/2006/main">
            <a:off x="5791200" y="2476500"/>
            <a:ext cx="371475" cy="152400"/>
          </a:xfrm>
          <a:prstGeom xmlns:a="http://schemas.openxmlformats.org/drawingml/2006/main" prst="rightArrow">
            <a:avLst/>
          </a:prstGeom>
          <a:solidFill xmlns:a="http://schemas.openxmlformats.org/drawingml/2006/main">
            <a:srgbClr val="087F8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C3B7820-93E6-4A9E-9355-3FEF0FC9E561}"/>
              </a:ext>
            </a:extLst>
          </p:cNvPr>
          <p:cNvSpPr>
            <a:spLocks xmlns:a="http://schemas.openxmlformats.org/drawingml/2006/main" noGrp="1"/>
          </p:cNvSpPr>
          <p:nvPr/>
        </p:nvSpPr>
        <p:spPr>
          <a:xfrm xmlns:a="http://schemas.openxmlformats.org/drawingml/2006/main">
            <a:off x="6362700" y="2143125"/>
            <a:ext cx="114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087F83"/>
                </a:solidFill>
                <a:latin typeface="Arial"/>
                <a:ea typeface="Arial"/>
                <a:cs typeface="Arial"/>
              </a:defRPr>
            </a:pPr>
            <a:r>
              <a:rPr sz="3225" b="1">
                <a:solidFill>
                  <a:srgbClr val="087F83"/>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ADA13230-636D-48D6-B5BD-EA2253C2030E}"/>
              </a:ext>
            </a:extLst>
          </p:cNvPr>
          <p:cNvSpPr>
            <a:spLocks xmlns:a="http://schemas.openxmlformats.org/drawingml/2006/main" noGrp="1"/>
          </p:cNvSpPr>
          <p:nvPr/>
        </p:nvSpPr>
        <p:spPr>
          <a:xfrm xmlns:a="http://schemas.openxmlformats.org/drawingml/2006/main">
            <a:off x="6362700" y="2876550"/>
            <a:ext cx="233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02C3C"/>
                </a:solidFill>
                <a:latin typeface="Arial"/>
                <a:ea typeface="Arial"/>
                <a:cs typeface="Arial"/>
              </a:defRPr>
            </a:pPr>
            <a:r>
              <a:rPr sz="2250" b="1">
                <a:solidFill>
                  <a:srgbClr val="102C3C"/>
                </a:solidFill>
                <a:latin typeface="Arial"/>
                <a:ea typeface="Arial"/>
                <a:cs typeface="Arial"/>
              </a:rPr>
              <a:t>Review</a:t>
            </a:r>
          </a:p>
        </p:txBody>
      </p:sp>
      <p:sp>
        <p:nvSpPr>
          <p:cNvPr id="15" name="">
            <a:extLst xmlns:a="http://schemas.openxmlformats.org/drawingml/2006/main">
              <a:ext uri="{FF2B5EF4-FFF2-40B4-BE49-F238E27FC236}">
                <a16:creationId xmlns:a16="http://schemas.microsoft.com/office/drawing/2014/main" id="{DF209984-FA59-40CE-98E6-7B8498A9F307}"/>
              </a:ext>
            </a:extLst>
          </p:cNvPr>
          <p:cNvSpPr>
            <a:spLocks xmlns:a="http://schemas.openxmlformats.org/drawingml/2006/main" noGrp="1"/>
          </p:cNvSpPr>
          <p:nvPr/>
        </p:nvSpPr>
        <p:spPr>
          <a:xfrm xmlns:a="http://schemas.openxmlformats.org/drawingml/2006/main">
            <a:off x="6362700" y="3467100"/>
            <a:ext cx="23431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26976"/>
                </a:solidFill>
                <a:latin typeface="Arial"/>
                <a:ea typeface="Arial"/>
                <a:cs typeface="Arial"/>
              </a:defRPr>
            </a:pPr>
            <a:r>
              <a:rPr sz="1725" b="0">
                <a:solidFill>
                  <a:srgbClr val="526976"/>
                </a:solidFill>
                <a:latin typeface="Arial"/>
                <a:ea typeface="Arial"/>
                <a:cs typeface="Arial"/>
              </a:rPr>
              <a:t>Findings + heatmap</a:t>
            </a:r>
          </a:p>
          <a:p xmlns:a="http://schemas.openxmlformats.org/drawingml/2006/main">
            <a:pPr>
              <a:defRPr sz="1725" b="0">
                <a:solidFill>
                  <a:srgbClr val="526976"/>
                </a:solidFill>
                <a:latin typeface="Arial"/>
                <a:ea typeface="Arial"/>
                <a:cs typeface="Arial"/>
              </a:defRPr>
            </a:pPr>
            <a:r>
              <a:rPr sz="1725" b="0">
                <a:solidFill>
                  <a:srgbClr val="526976"/>
                </a:solidFill>
                <a:latin typeface="Arial"/>
                <a:ea typeface="Arial"/>
                <a:cs typeface="Arial"/>
              </a:rPr>
              <a:t>Doctor reviews &amp; signs</a:t>
            </a:r>
          </a:p>
        </p:txBody>
      </p:sp>
      <p:sp>
        <p:nvSpPr>
          <p:cNvPr id="16" name="">
            <a:extLst xmlns:a="http://schemas.openxmlformats.org/drawingml/2006/main">
              <a:ext uri="{FF2B5EF4-FFF2-40B4-BE49-F238E27FC236}">
                <a16:creationId xmlns:a16="http://schemas.microsoft.com/office/drawing/2014/main" id="{05875848-4C1A-4D57-81C5-130CD54E8545}"/>
              </a:ext>
            </a:extLst>
          </p:cNvPr>
          <p:cNvSpPr>
            <a:spLocks xmlns:a="http://schemas.openxmlformats.org/drawingml/2006/main" noGrp="1"/>
          </p:cNvSpPr>
          <p:nvPr/>
        </p:nvSpPr>
        <p:spPr>
          <a:xfrm xmlns:a="http://schemas.openxmlformats.org/drawingml/2006/main">
            <a:off x="8667750" y="2476500"/>
            <a:ext cx="371475" cy="152400"/>
          </a:xfrm>
          <a:prstGeom xmlns:a="http://schemas.openxmlformats.org/drawingml/2006/main" prst="rightArrow">
            <a:avLst/>
          </a:prstGeom>
          <a:solidFill xmlns:a="http://schemas.openxmlformats.org/drawingml/2006/main">
            <a:srgbClr val="087F8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EBDA7FC-30A5-42AA-8082-2BB2ADFEC878}"/>
              </a:ext>
            </a:extLst>
          </p:cNvPr>
          <p:cNvSpPr>
            <a:spLocks xmlns:a="http://schemas.openxmlformats.org/drawingml/2006/main" noGrp="1"/>
          </p:cNvSpPr>
          <p:nvPr/>
        </p:nvSpPr>
        <p:spPr>
          <a:xfrm xmlns:a="http://schemas.openxmlformats.org/drawingml/2006/main">
            <a:off x="9239250" y="2143125"/>
            <a:ext cx="114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087F83"/>
                </a:solidFill>
                <a:latin typeface="Arial"/>
                <a:ea typeface="Arial"/>
                <a:cs typeface="Arial"/>
              </a:defRPr>
            </a:pPr>
            <a:r>
              <a:rPr sz="3225" b="1">
                <a:solidFill>
                  <a:srgbClr val="087F83"/>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1935F39E-F25F-48D9-944E-8BA3F3A18EAE}"/>
              </a:ext>
            </a:extLst>
          </p:cNvPr>
          <p:cNvSpPr>
            <a:spLocks xmlns:a="http://schemas.openxmlformats.org/drawingml/2006/main" noGrp="1"/>
          </p:cNvSpPr>
          <p:nvPr/>
        </p:nvSpPr>
        <p:spPr>
          <a:xfrm xmlns:a="http://schemas.openxmlformats.org/drawingml/2006/main">
            <a:off x="9239250" y="2876550"/>
            <a:ext cx="233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02C3C"/>
                </a:solidFill>
                <a:latin typeface="Arial"/>
                <a:ea typeface="Arial"/>
                <a:cs typeface="Arial"/>
              </a:defRPr>
            </a:pPr>
            <a:r>
              <a:rPr sz="2250" b="1">
                <a:solidFill>
                  <a:srgbClr val="102C3C"/>
                </a:solidFill>
                <a:latin typeface="Arial"/>
                <a:ea typeface="Arial"/>
                <a:cs typeface="Arial"/>
              </a:rPr>
              <a:t>Follow up</a:t>
            </a:r>
          </a:p>
        </p:txBody>
      </p:sp>
      <p:sp>
        <p:nvSpPr>
          <p:cNvPr id="19" name="">
            <a:extLst xmlns:a="http://schemas.openxmlformats.org/drawingml/2006/main">
              <a:ext uri="{FF2B5EF4-FFF2-40B4-BE49-F238E27FC236}">
                <a16:creationId xmlns:a16="http://schemas.microsoft.com/office/drawing/2014/main" id="{1E846424-1E63-4649-B065-3DFB90B48F71}"/>
              </a:ext>
            </a:extLst>
          </p:cNvPr>
          <p:cNvSpPr>
            <a:spLocks xmlns:a="http://schemas.openxmlformats.org/drawingml/2006/main" noGrp="1"/>
          </p:cNvSpPr>
          <p:nvPr/>
        </p:nvSpPr>
        <p:spPr>
          <a:xfrm xmlns:a="http://schemas.openxmlformats.org/drawingml/2006/main">
            <a:off x="9239250" y="3467100"/>
            <a:ext cx="23431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26976"/>
                </a:solidFill>
                <a:latin typeface="Arial"/>
                <a:ea typeface="Arial"/>
                <a:cs typeface="Arial"/>
              </a:defRPr>
            </a:pPr>
            <a:r>
              <a:rPr sz="1725" b="0">
                <a:solidFill>
                  <a:srgbClr val="526976"/>
                </a:solidFill>
                <a:latin typeface="Arial"/>
                <a:ea typeface="Arial"/>
                <a:cs typeface="Arial"/>
              </a:rPr>
              <a:t>PDF + patient portal</a:t>
            </a:r>
          </a:p>
          <a:p xmlns:a="http://schemas.openxmlformats.org/drawingml/2006/main">
            <a:pPr>
              <a:defRPr sz="1725" b="0">
                <a:solidFill>
                  <a:srgbClr val="526976"/>
                </a:solidFill>
                <a:latin typeface="Arial"/>
                <a:ea typeface="Arial"/>
                <a:cs typeface="Arial"/>
              </a:defRPr>
            </a:pPr>
            <a:r>
              <a:rPr sz="1725" b="0">
                <a:solidFill>
                  <a:srgbClr val="526976"/>
                </a:solidFill>
                <a:latin typeface="Arial"/>
                <a:ea typeface="Arial"/>
                <a:cs typeface="Arial"/>
              </a:rPr>
              <a:t>Appointment planning</a:t>
            </a:r>
          </a:p>
        </p:txBody>
      </p:sp>
      <p:sp>
        <p:nvSpPr>
          <p:cNvPr id="20" name="">
            <a:extLst xmlns:a="http://schemas.openxmlformats.org/drawingml/2006/main">
              <a:ext uri="{FF2B5EF4-FFF2-40B4-BE49-F238E27FC236}">
                <a16:creationId xmlns:a16="http://schemas.microsoft.com/office/drawing/2014/main" id="{9F1176DC-9F2A-4F0B-A0F4-DA972EECF085}"/>
              </a:ext>
            </a:extLst>
          </p:cNvPr>
          <p:cNvSpPr>
            <a:spLocks xmlns:a="http://schemas.openxmlformats.org/drawingml/2006/main" noGrp="1"/>
          </p:cNvSpPr>
          <p:nvPr/>
        </p:nvSpPr>
        <p:spPr>
          <a:xfrm xmlns:a="http://schemas.openxmlformats.org/drawingml/2006/main">
            <a:off x="609600" y="4629150"/>
            <a:ext cx="10972800" cy="0"/>
          </a:xfrm>
          <a:prstGeom xmlns:a="http://schemas.openxmlformats.org/drawingml/2006/main" prst="line">
            <a:avLst/>
          </a:prstGeom>
          <a:noFill xmlns:a="http://schemas.openxmlformats.org/drawingml/2006/main"/>
          <a:ln xmlns:a="http://schemas.openxmlformats.org/drawingml/2006/main" w="14288">
            <a:solidFill>
              <a:srgbClr val="B9CDCF"/>
            </a:solidFill>
          </a:ln>
        </p:spPr>
      </p:sp>
      <p:sp>
        <p:nvSpPr>
          <p:cNvPr id="21" name="">
            <a:extLst xmlns:a="http://schemas.openxmlformats.org/drawingml/2006/main">
              <a:ext uri="{FF2B5EF4-FFF2-40B4-BE49-F238E27FC236}">
                <a16:creationId xmlns:a16="http://schemas.microsoft.com/office/drawing/2014/main" id="{6126C381-5666-4349-9355-17106B5D09A6}"/>
              </a:ext>
            </a:extLst>
          </p:cNvPr>
          <p:cNvSpPr>
            <a:spLocks xmlns:a="http://schemas.openxmlformats.org/drawingml/2006/main" noGrp="1"/>
          </p:cNvSpPr>
          <p:nvPr/>
        </p:nvSpPr>
        <p:spPr>
          <a:xfrm xmlns:a="http://schemas.openxmlformats.org/drawingml/2006/main">
            <a:off x="609600" y="4962525"/>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087F83"/>
                </a:solidFill>
                <a:latin typeface="Arial"/>
                <a:ea typeface="Arial"/>
                <a:cs typeface="Arial"/>
              </a:defRPr>
            </a:pPr>
            <a:r>
              <a:rPr sz="1875" b="1">
                <a:solidFill>
                  <a:srgbClr val="087F83"/>
                </a:solidFill>
                <a:latin typeface="Arial"/>
                <a:ea typeface="Arial"/>
                <a:cs typeface="Arial"/>
              </a:rPr>
              <a:t>Why this approach</a:t>
            </a:r>
          </a:p>
        </p:txBody>
      </p:sp>
      <p:sp>
        <p:nvSpPr>
          <p:cNvPr id="22" name="">
            <a:extLst xmlns:a="http://schemas.openxmlformats.org/drawingml/2006/main">
              <a:ext uri="{FF2B5EF4-FFF2-40B4-BE49-F238E27FC236}">
                <a16:creationId xmlns:a16="http://schemas.microsoft.com/office/drawing/2014/main" id="{31D191F3-1058-4215-A3CF-AB28587096F6}"/>
              </a:ext>
            </a:extLst>
          </p:cNvPr>
          <p:cNvSpPr>
            <a:spLocks xmlns:a="http://schemas.openxmlformats.org/drawingml/2006/main" noGrp="1"/>
          </p:cNvSpPr>
          <p:nvPr/>
        </p:nvSpPr>
        <p:spPr>
          <a:xfrm xmlns:a="http://schemas.openxmlformats.org/drawingml/2006/main">
            <a:off x="3429000" y="4933950"/>
            <a:ext cx="8096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02C3C"/>
                </a:solidFill>
                <a:latin typeface="Arial"/>
                <a:ea typeface="Arial"/>
                <a:cs typeface="Arial"/>
              </a:defRPr>
            </a:pPr>
            <a:r>
              <a:rPr sz="2025" b="0">
                <a:solidFill>
                  <a:srgbClr val="102C3C"/>
                </a:solidFill>
                <a:latin typeface="Arial"/>
                <a:ea typeface="Arial"/>
                <a:cs typeface="Arial"/>
              </a:rPr>
              <a:t>The image score is only one input. Clinical factors, visible explanations</a:t>
            </a:r>
          </a:p>
          <a:p xmlns:a="http://schemas.openxmlformats.org/drawingml/2006/main">
            <a:pPr>
              <a:defRPr sz="2025" b="0">
                <a:solidFill>
                  <a:srgbClr val="102C3C"/>
                </a:solidFill>
                <a:latin typeface="Arial"/>
                <a:ea typeface="Arial"/>
                <a:cs typeface="Arial"/>
              </a:defRPr>
            </a:pPr>
            <a:r>
              <a:rPr sz="2025" b="0">
                <a:solidFill>
                  <a:srgbClr val="102C3C"/>
                </a:solidFill>
                <a:latin typeface="Arial"/>
                <a:ea typeface="Arial"/>
                <a:cs typeface="Arial"/>
              </a:rPr>
              <a:t>and doctor review connect the prediction to the care workflow.</a:t>
            </a:r>
          </a:p>
        </p:txBody>
      </p:sp>
    </p:spTree>
    <p:extLst>
      <p:ext uri="{BB962C8B-B14F-4D97-AF65-F5344CB8AC3E}">
        <p14:creationId xmlns:p14="http://schemas.microsoft.com/office/powerpoint/2010/main" val="1547724516"/>
      </p:ext>
    </p:extLst>
  </p:cSld>
</p:sld>
</file>

<file path=ppt/slides/slide4.xml><?xml version="1.0" encoding="utf-8"?>
<p:sld xmlns:p="http://schemas.openxmlformats.org/presentationml/2006/main">
  <p:cSld>
    <p:bg>
      <p:bgPr>
        <a:solidFill xmlns:a="http://schemas.openxmlformats.org/drawingml/2006/main">
          <a:srgbClr val="0A192B"/>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9816CFD3-36D5-474E-822D-3BE55E7E3905}"/>
              </a:ext>
            </a:extLst>
          </p:cNvPr>
          <p:cNvSpPr>
            <a:spLocks xmlns:a="http://schemas.openxmlformats.org/drawingml/2006/main" noGrp="1"/>
          </p:cNvSpPr>
          <p:nvPr/>
        </p:nvSpPr>
        <p:spPr>
          <a:xfrm xmlns:a="http://schemas.openxmlformats.org/drawingml/2006/main">
            <a:off x="609600" y="428625"/>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Tech Stack &amp; Architecture</a:t>
            </a:r>
          </a:p>
        </p:txBody>
      </p:sp>
      <p:sp>
        <p:nvSpPr>
          <p:cNvPr id="2" name="">
            <a:extLst xmlns:a="http://schemas.openxmlformats.org/drawingml/2006/main">
              <a:ext uri="{FF2B5EF4-FFF2-40B4-BE49-F238E27FC236}">
                <a16:creationId xmlns:a16="http://schemas.microsoft.com/office/drawing/2014/main" id="{31D8F7A3-A24C-47E6-8598-4397C1BDCEDD}"/>
              </a:ext>
            </a:extLst>
          </p:cNvPr>
          <p:cNvSpPr>
            <a:spLocks xmlns:a="http://schemas.openxmlformats.org/drawingml/2006/main" noGrp="1"/>
          </p:cNvSpPr>
          <p:nvPr/>
        </p:nvSpPr>
        <p:spPr>
          <a:xfrm xmlns:a="http://schemas.openxmlformats.org/drawingml/2006/main">
            <a:off x="609600" y="64293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9DB3C0"/>
                </a:solidFill>
                <a:latin typeface="Arial"/>
                <a:ea typeface="Arial"/>
                <a:cs typeface="Arial"/>
              </a:defRPr>
            </a:pPr>
            <a:r>
              <a:rPr sz="1200" b="0">
                <a:solidFill>
                  <a:srgbClr val="9DB3C0"/>
                </a:solidFill>
                <a:latin typeface="Arial"/>
                <a:ea typeface="Arial"/>
                <a:cs typeface="Arial"/>
              </a:rPr>
              <a:t>OncoCatch  /  AuraMed</a:t>
            </a:r>
          </a:p>
        </p:txBody>
      </p:sp>
      <p:sp>
        <p:nvSpPr>
          <p:cNvPr id="3" name="">
            <a:extLst xmlns:a="http://schemas.openxmlformats.org/drawingml/2006/main">
              <a:ext uri="{FF2B5EF4-FFF2-40B4-BE49-F238E27FC236}">
                <a16:creationId xmlns:a16="http://schemas.microsoft.com/office/drawing/2014/main" id="{A2551C99-F4F7-40DB-A082-6E0D5652D89C}"/>
              </a:ext>
            </a:extLst>
          </p:cNvPr>
          <p:cNvSpPr>
            <a:spLocks xmlns:a="http://schemas.openxmlformats.org/drawingml/2006/main" noGrp="1"/>
          </p:cNvSpPr>
          <p:nvPr/>
        </p:nvSpPr>
        <p:spPr>
          <a:xfrm xmlns:a="http://schemas.openxmlformats.org/drawingml/2006/main">
            <a:off x="10668000" y="642937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9DB3C0"/>
                </a:solidFill>
                <a:latin typeface="Arial"/>
                <a:ea typeface="Arial"/>
                <a:cs typeface="Arial"/>
              </a:defRPr>
            </a:pPr>
            <a:r>
              <a:rPr sz="1200" b="0">
                <a:solidFill>
                  <a:srgbClr val="9DB3C0"/>
                </a:solidFill>
                <a:latin typeface="Arial"/>
                <a:ea typeface="Arial"/>
                <a:cs typeface="Arial"/>
              </a:rPr>
              <a:t>04 / 11</a:t>
            </a:r>
          </a:p>
        </p:txBody>
      </p:sp>
      <p:sp>
        <p:nvSpPr>
          <p:cNvPr id="4" name="">
            <a:extLst xmlns:a="http://schemas.openxmlformats.org/drawingml/2006/main">
              <a:ext uri="{FF2B5EF4-FFF2-40B4-BE49-F238E27FC236}">
                <a16:creationId xmlns:a16="http://schemas.microsoft.com/office/drawing/2014/main" id="{AA56927F-777F-4B61-AA6A-8E2CFD42A7AE}"/>
              </a:ext>
            </a:extLst>
          </p:cNvPr>
          <p:cNvSpPr>
            <a:spLocks xmlns:a="http://schemas.openxmlformats.org/drawingml/2006/main" noGrp="1"/>
          </p:cNvSpPr>
          <p:nvPr/>
        </p:nvSpPr>
        <p:spPr>
          <a:xfrm xmlns:a="http://schemas.openxmlformats.org/drawingml/2006/main">
            <a:off x="609600" y="1362075"/>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1D6C4"/>
                </a:solidFill>
                <a:latin typeface="Arial"/>
                <a:ea typeface="Arial"/>
                <a:cs typeface="Arial"/>
              </a:defRPr>
            </a:pPr>
            <a:r>
              <a:rPr sz="1875" b="0">
                <a:solidFill>
                  <a:srgbClr val="51D6C4"/>
                </a:solidFill>
                <a:latin typeface="Arial"/>
                <a:ea typeface="Arial"/>
                <a:cs typeface="Arial"/>
              </a:rPr>
              <a:t>JavaScript / React / Vite / Tailwind</a:t>
            </a:r>
          </a:p>
        </p:txBody>
      </p:sp>
      <p:sp>
        <p:nvSpPr>
          <p:cNvPr id="5" name="">
            <a:extLst xmlns:a="http://schemas.openxmlformats.org/drawingml/2006/main">
              <a:ext uri="{FF2B5EF4-FFF2-40B4-BE49-F238E27FC236}">
                <a16:creationId xmlns:a16="http://schemas.microsoft.com/office/drawing/2014/main" id="{BB6D7D2E-585C-4E88-9EA9-94BD245E09A6}"/>
              </a:ext>
            </a:extLst>
          </p:cNvPr>
          <p:cNvSpPr>
            <a:spLocks xmlns:a="http://schemas.openxmlformats.org/drawingml/2006/main" noGrp="1"/>
          </p:cNvSpPr>
          <p:nvPr/>
        </p:nvSpPr>
        <p:spPr>
          <a:xfrm xmlns:a="http://schemas.openxmlformats.org/drawingml/2006/main">
            <a:off x="609600" y="2057400"/>
            <a:ext cx="2381250" cy="1457325"/>
          </a:xfrm>
          <a:prstGeom xmlns:a="http://schemas.openxmlformats.org/drawingml/2006/main" prst="rect">
            <a:avLst/>
          </a:prstGeom>
          <a:solidFill xmlns:a="http://schemas.openxmlformats.org/drawingml/2006/main">
            <a:srgbClr val="132F40"/>
          </a:solidFill>
          <a:ln xmlns:a="http://schemas.openxmlformats.org/drawingml/2006/main" w="14288">
            <a:solidFill>
              <a:srgbClr val="426174"/>
            </a:solidFill>
          </a:ln>
        </p:spPr>
      </p:sp>
      <p:sp>
        <p:nvSpPr>
          <p:cNvPr id="6" name="">
            <a:extLst xmlns:a="http://schemas.openxmlformats.org/drawingml/2006/main">
              <a:ext uri="{FF2B5EF4-FFF2-40B4-BE49-F238E27FC236}">
                <a16:creationId xmlns:a16="http://schemas.microsoft.com/office/drawing/2014/main" id="{DD8FB60D-9011-4571-AF39-30BF68C14900}"/>
              </a:ext>
            </a:extLst>
          </p:cNvPr>
          <p:cNvSpPr>
            <a:spLocks xmlns:a="http://schemas.openxmlformats.org/drawingml/2006/main" noGrp="1"/>
          </p:cNvSpPr>
          <p:nvPr/>
        </p:nvSpPr>
        <p:spPr>
          <a:xfrm xmlns:a="http://schemas.openxmlformats.org/drawingml/2006/main">
            <a:off x="752475" y="225742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Role-based portals</a:t>
            </a:r>
          </a:p>
        </p:txBody>
      </p:sp>
      <p:sp>
        <p:nvSpPr>
          <p:cNvPr id="7" name="">
            <a:extLst xmlns:a="http://schemas.openxmlformats.org/drawingml/2006/main">
              <a:ext uri="{FF2B5EF4-FFF2-40B4-BE49-F238E27FC236}">
                <a16:creationId xmlns:a16="http://schemas.microsoft.com/office/drawing/2014/main" id="{22340D82-A394-4A7A-B15F-4060F2970C31}"/>
              </a:ext>
            </a:extLst>
          </p:cNvPr>
          <p:cNvSpPr>
            <a:spLocks xmlns:a="http://schemas.openxmlformats.org/drawingml/2006/main" noGrp="1"/>
          </p:cNvSpPr>
          <p:nvPr/>
        </p:nvSpPr>
        <p:spPr>
          <a:xfrm xmlns:a="http://schemas.openxmlformats.org/drawingml/2006/main">
            <a:off x="752475" y="2781300"/>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CADCE4"/>
                </a:solidFill>
                <a:latin typeface="Arial"/>
                <a:ea typeface="Arial"/>
                <a:cs typeface="Arial"/>
              </a:defRPr>
            </a:pPr>
            <a:r>
              <a:rPr sz="1500" b="0">
                <a:solidFill>
                  <a:srgbClr val="CADCE4"/>
                </a:solidFill>
                <a:latin typeface="Arial"/>
                <a:ea typeface="Arial"/>
                <a:cs typeface="Arial"/>
              </a:rPr>
              <a:t>Doctor · Patient · Admin</a:t>
            </a:r>
          </a:p>
        </p:txBody>
      </p:sp>
      <p:sp>
        <p:nvSpPr>
          <p:cNvPr id="8" name="">
            <a:extLst xmlns:a="http://schemas.openxmlformats.org/drawingml/2006/main">
              <a:ext uri="{FF2B5EF4-FFF2-40B4-BE49-F238E27FC236}">
                <a16:creationId xmlns:a16="http://schemas.microsoft.com/office/drawing/2014/main" id="{1EDCFF58-C9D0-479E-8278-64AADFE06A3A}"/>
              </a:ext>
            </a:extLst>
          </p:cNvPr>
          <p:cNvSpPr>
            <a:spLocks xmlns:a="http://schemas.openxmlformats.org/drawingml/2006/main" noGrp="1"/>
          </p:cNvSpPr>
          <p:nvPr/>
        </p:nvSpPr>
        <p:spPr>
          <a:xfrm xmlns:a="http://schemas.openxmlformats.org/drawingml/2006/main">
            <a:off x="3609975" y="2057400"/>
            <a:ext cx="2333625" cy="1457325"/>
          </a:xfrm>
          <a:prstGeom xmlns:a="http://schemas.openxmlformats.org/drawingml/2006/main" prst="rect">
            <a:avLst/>
          </a:prstGeom>
          <a:solidFill xmlns:a="http://schemas.openxmlformats.org/drawingml/2006/main">
            <a:srgbClr val="132F40"/>
          </a:solidFill>
          <a:ln xmlns:a="http://schemas.openxmlformats.org/drawingml/2006/main" w="14288">
            <a:solidFill>
              <a:srgbClr val="426174"/>
            </a:solidFill>
          </a:ln>
        </p:spPr>
      </p:sp>
      <p:sp>
        <p:nvSpPr>
          <p:cNvPr id="9" name="">
            <a:extLst xmlns:a="http://schemas.openxmlformats.org/drawingml/2006/main">
              <a:ext uri="{FF2B5EF4-FFF2-40B4-BE49-F238E27FC236}">
                <a16:creationId xmlns:a16="http://schemas.microsoft.com/office/drawing/2014/main" id="{667C5736-A3A4-426E-933F-AB5F9FC0E57D}"/>
              </a:ext>
            </a:extLst>
          </p:cNvPr>
          <p:cNvSpPr>
            <a:spLocks xmlns:a="http://schemas.openxmlformats.org/drawingml/2006/main" noGrp="1"/>
          </p:cNvSpPr>
          <p:nvPr/>
        </p:nvSpPr>
        <p:spPr>
          <a:xfrm xmlns:a="http://schemas.openxmlformats.org/drawingml/2006/main">
            <a:off x="3752850" y="2257425"/>
            <a:ext cx="2047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FastAPI / Python</a:t>
            </a:r>
          </a:p>
        </p:txBody>
      </p:sp>
      <p:sp>
        <p:nvSpPr>
          <p:cNvPr id="10" name="">
            <a:extLst xmlns:a="http://schemas.openxmlformats.org/drawingml/2006/main">
              <a:ext uri="{FF2B5EF4-FFF2-40B4-BE49-F238E27FC236}">
                <a16:creationId xmlns:a16="http://schemas.microsoft.com/office/drawing/2014/main" id="{26EECB72-8B57-48A5-B6FE-F391BC926380}"/>
              </a:ext>
            </a:extLst>
          </p:cNvPr>
          <p:cNvSpPr>
            <a:spLocks xmlns:a="http://schemas.openxmlformats.org/drawingml/2006/main" noGrp="1"/>
          </p:cNvSpPr>
          <p:nvPr/>
        </p:nvSpPr>
        <p:spPr>
          <a:xfrm xmlns:a="http://schemas.openxmlformats.org/drawingml/2006/main">
            <a:off x="3752850" y="2781300"/>
            <a:ext cx="2047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CADCE4"/>
                </a:solidFill>
                <a:latin typeface="Arial"/>
                <a:ea typeface="Arial"/>
                <a:cs typeface="Arial"/>
              </a:defRPr>
            </a:pPr>
            <a:r>
              <a:rPr sz="1500" b="0">
                <a:solidFill>
                  <a:srgbClr val="CADCE4"/>
                </a:solidFill>
                <a:latin typeface="Arial"/>
                <a:ea typeface="Arial"/>
                <a:cs typeface="Arial"/>
              </a:rPr>
              <a:t>JWT authentication</a:t>
            </a:r>
          </a:p>
          <a:p xmlns:a="http://schemas.openxmlformats.org/drawingml/2006/main">
            <a:pPr>
              <a:defRPr sz="1500" b="0">
                <a:solidFill>
                  <a:srgbClr val="CADCE4"/>
                </a:solidFill>
                <a:latin typeface="Arial"/>
                <a:ea typeface="Arial"/>
                <a:cs typeface="Arial"/>
              </a:defRPr>
            </a:pPr>
            <a:r>
              <a:rPr sz="1500" b="0">
                <a:solidFill>
                  <a:srgbClr val="CADCE4"/>
                </a:solidFill>
                <a:latin typeface="Arial"/>
                <a:ea typeface="Arial"/>
                <a:cs typeface="Arial"/>
              </a:rPr>
              <a:t>Workflow endpoints</a:t>
            </a:r>
          </a:p>
        </p:txBody>
      </p:sp>
      <p:sp>
        <p:nvSpPr>
          <p:cNvPr id="11" name="">
            <a:extLst xmlns:a="http://schemas.openxmlformats.org/drawingml/2006/main">
              <a:ext uri="{FF2B5EF4-FFF2-40B4-BE49-F238E27FC236}">
                <a16:creationId xmlns:a16="http://schemas.microsoft.com/office/drawing/2014/main" id="{A06CA423-4068-4E75-A02F-91AADFA2D2FE}"/>
              </a:ext>
            </a:extLst>
          </p:cNvPr>
          <p:cNvSpPr>
            <a:spLocks xmlns:a="http://schemas.openxmlformats.org/drawingml/2006/main" noGrp="1"/>
          </p:cNvSpPr>
          <p:nvPr/>
        </p:nvSpPr>
        <p:spPr>
          <a:xfrm xmlns:a="http://schemas.openxmlformats.org/drawingml/2006/main">
            <a:off x="6562725" y="2057400"/>
            <a:ext cx="2381250" cy="1457325"/>
          </a:xfrm>
          <a:prstGeom xmlns:a="http://schemas.openxmlformats.org/drawingml/2006/main" prst="rect">
            <a:avLst/>
          </a:prstGeom>
          <a:solidFill xmlns:a="http://schemas.openxmlformats.org/drawingml/2006/main">
            <a:srgbClr val="132F40"/>
          </a:solidFill>
          <a:ln xmlns:a="http://schemas.openxmlformats.org/drawingml/2006/main" w="14288">
            <a:solidFill>
              <a:srgbClr val="426174"/>
            </a:solidFill>
          </a:ln>
        </p:spPr>
      </p:sp>
      <p:sp>
        <p:nvSpPr>
          <p:cNvPr id="12" name="">
            <a:extLst xmlns:a="http://schemas.openxmlformats.org/drawingml/2006/main">
              <a:ext uri="{FF2B5EF4-FFF2-40B4-BE49-F238E27FC236}">
                <a16:creationId xmlns:a16="http://schemas.microsoft.com/office/drawing/2014/main" id="{4D023C4A-AEEE-4C38-89F0-3BDC19480B7B}"/>
              </a:ext>
            </a:extLst>
          </p:cNvPr>
          <p:cNvSpPr>
            <a:spLocks xmlns:a="http://schemas.openxmlformats.org/drawingml/2006/main" noGrp="1"/>
          </p:cNvSpPr>
          <p:nvPr/>
        </p:nvSpPr>
        <p:spPr>
          <a:xfrm xmlns:a="http://schemas.openxmlformats.org/drawingml/2006/main">
            <a:off x="6705600" y="225742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PyTorch inference</a:t>
            </a:r>
          </a:p>
        </p:txBody>
      </p:sp>
      <p:sp>
        <p:nvSpPr>
          <p:cNvPr id="13" name="">
            <a:extLst xmlns:a="http://schemas.openxmlformats.org/drawingml/2006/main">
              <a:ext uri="{FF2B5EF4-FFF2-40B4-BE49-F238E27FC236}">
                <a16:creationId xmlns:a16="http://schemas.microsoft.com/office/drawing/2014/main" id="{1E80D9BB-26DF-46AF-A3A2-DB2F92EA351B}"/>
              </a:ext>
            </a:extLst>
          </p:cNvPr>
          <p:cNvSpPr>
            <a:spLocks xmlns:a="http://schemas.openxmlformats.org/drawingml/2006/main" noGrp="1"/>
          </p:cNvSpPr>
          <p:nvPr/>
        </p:nvSpPr>
        <p:spPr>
          <a:xfrm xmlns:a="http://schemas.openxmlformats.org/drawingml/2006/main">
            <a:off x="6705600" y="2781300"/>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CADCE4"/>
                </a:solidFill>
                <a:latin typeface="Arial"/>
                <a:ea typeface="Arial"/>
                <a:cs typeface="Arial"/>
              </a:defRPr>
            </a:pPr>
            <a:r>
              <a:rPr sz="1500" b="0">
                <a:solidFill>
                  <a:srgbClr val="CADCE4"/>
                </a:solidFill>
                <a:latin typeface="Arial"/>
                <a:ea typeface="Arial"/>
                <a:cs typeface="Arial"/>
              </a:rPr>
              <a:t>Breast / PCOS: ResNet-50</a:t>
            </a:r>
          </a:p>
          <a:p xmlns:a="http://schemas.openxmlformats.org/drawingml/2006/main">
            <a:pPr>
              <a:defRPr sz="1500" b="0">
                <a:solidFill>
                  <a:srgbClr val="CADCE4"/>
                </a:solidFill>
                <a:latin typeface="Arial"/>
                <a:ea typeface="Arial"/>
                <a:cs typeface="Arial"/>
              </a:defRPr>
            </a:pPr>
            <a:r>
              <a:rPr sz="1500" b="0">
                <a:solidFill>
                  <a:srgbClr val="CADCE4"/>
                </a:solidFill>
                <a:latin typeface="Arial"/>
                <a:ea typeface="Arial"/>
                <a:cs typeface="Arial"/>
              </a:rPr>
              <a:t>Cervical: ViT (timm)</a:t>
            </a:r>
          </a:p>
        </p:txBody>
      </p:sp>
      <p:sp>
        <p:nvSpPr>
          <p:cNvPr id="14" name="">
            <a:extLst xmlns:a="http://schemas.openxmlformats.org/drawingml/2006/main">
              <a:ext uri="{FF2B5EF4-FFF2-40B4-BE49-F238E27FC236}">
                <a16:creationId xmlns:a16="http://schemas.microsoft.com/office/drawing/2014/main" id="{6D70512A-E536-43F4-8CBD-070A7E61767E}"/>
              </a:ext>
            </a:extLst>
          </p:cNvPr>
          <p:cNvSpPr>
            <a:spLocks xmlns:a="http://schemas.openxmlformats.org/drawingml/2006/main" noGrp="1"/>
          </p:cNvSpPr>
          <p:nvPr/>
        </p:nvSpPr>
        <p:spPr>
          <a:xfrm xmlns:a="http://schemas.openxmlformats.org/drawingml/2006/main">
            <a:off x="9563100" y="2057400"/>
            <a:ext cx="2019300" cy="1457325"/>
          </a:xfrm>
          <a:prstGeom xmlns:a="http://schemas.openxmlformats.org/drawingml/2006/main" prst="rect">
            <a:avLst/>
          </a:prstGeom>
          <a:solidFill xmlns:a="http://schemas.openxmlformats.org/drawingml/2006/main">
            <a:srgbClr val="132F40"/>
          </a:solidFill>
          <a:ln xmlns:a="http://schemas.openxmlformats.org/drawingml/2006/main" w="14288">
            <a:solidFill>
              <a:srgbClr val="426174"/>
            </a:solidFill>
          </a:ln>
        </p:spPr>
      </p:sp>
      <p:sp>
        <p:nvSpPr>
          <p:cNvPr id="15" name="">
            <a:extLst xmlns:a="http://schemas.openxmlformats.org/drawingml/2006/main">
              <a:ext uri="{FF2B5EF4-FFF2-40B4-BE49-F238E27FC236}">
                <a16:creationId xmlns:a16="http://schemas.microsoft.com/office/drawing/2014/main" id="{7B632CD9-9069-4B6D-A1D0-7740952C1EEA}"/>
              </a:ext>
            </a:extLst>
          </p:cNvPr>
          <p:cNvSpPr>
            <a:spLocks xmlns:a="http://schemas.openxmlformats.org/drawingml/2006/main" noGrp="1"/>
          </p:cNvSpPr>
          <p:nvPr/>
        </p:nvSpPr>
        <p:spPr>
          <a:xfrm xmlns:a="http://schemas.openxmlformats.org/drawingml/2006/main">
            <a:off x="9705975" y="2257425"/>
            <a:ext cx="1733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Clinical scoring</a:t>
            </a:r>
          </a:p>
        </p:txBody>
      </p:sp>
      <p:sp>
        <p:nvSpPr>
          <p:cNvPr id="16" name="">
            <a:extLst xmlns:a="http://schemas.openxmlformats.org/drawingml/2006/main">
              <a:ext uri="{FF2B5EF4-FFF2-40B4-BE49-F238E27FC236}">
                <a16:creationId xmlns:a16="http://schemas.microsoft.com/office/drawing/2014/main" id="{1AE93C59-F455-49B8-AB94-4FF50B4F7E16}"/>
              </a:ext>
            </a:extLst>
          </p:cNvPr>
          <p:cNvSpPr>
            <a:spLocks xmlns:a="http://schemas.openxmlformats.org/drawingml/2006/main" noGrp="1"/>
          </p:cNvSpPr>
          <p:nvPr/>
        </p:nvSpPr>
        <p:spPr>
          <a:xfrm xmlns:a="http://schemas.openxmlformats.org/drawingml/2006/main">
            <a:off x="9705975" y="2781300"/>
            <a:ext cx="1733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CADCE4"/>
                </a:solidFill>
                <a:latin typeface="Arial"/>
                <a:ea typeface="Arial"/>
                <a:cs typeface="Arial"/>
              </a:defRPr>
            </a:pPr>
            <a:r>
              <a:rPr sz="1500" b="0">
                <a:solidFill>
                  <a:srgbClr val="CADCE4"/>
                </a:solidFill>
                <a:latin typeface="Arial"/>
                <a:ea typeface="Arial"/>
                <a:cs typeface="Arial"/>
              </a:rPr>
              <a:t>Module formulas</a:t>
            </a:r>
          </a:p>
          <a:p xmlns:a="http://schemas.openxmlformats.org/drawingml/2006/main">
            <a:pPr>
              <a:defRPr sz="1500" b="0">
                <a:solidFill>
                  <a:srgbClr val="CADCE4"/>
                </a:solidFill>
                <a:latin typeface="Arial"/>
                <a:ea typeface="Arial"/>
                <a:cs typeface="Arial"/>
              </a:defRPr>
            </a:pPr>
            <a:r>
              <a:rPr sz="1500" b="0">
                <a:solidFill>
                  <a:srgbClr val="CADCE4"/>
                </a:solidFill>
                <a:latin typeface="Arial"/>
                <a:ea typeface="Arial"/>
                <a:cs typeface="Arial"/>
              </a:rPr>
              <a:t>Weighted fusion</a:t>
            </a:r>
          </a:p>
        </p:txBody>
      </p:sp>
      <p:sp>
        <p:nvSpPr>
          <p:cNvPr id="17" name="">
            <a:extLst xmlns:a="http://schemas.openxmlformats.org/drawingml/2006/main">
              <a:ext uri="{FF2B5EF4-FFF2-40B4-BE49-F238E27FC236}">
                <a16:creationId xmlns:a16="http://schemas.microsoft.com/office/drawing/2014/main" id="{15FAA127-1684-4DF0-B0E2-FCFC911DFCE3}"/>
              </a:ext>
            </a:extLst>
          </p:cNvPr>
          <p:cNvSpPr>
            <a:spLocks xmlns:a="http://schemas.openxmlformats.org/drawingml/2006/main" noGrp="1"/>
          </p:cNvSpPr>
          <p:nvPr/>
        </p:nvSpPr>
        <p:spPr>
          <a:xfrm xmlns:a="http://schemas.openxmlformats.org/drawingml/2006/main">
            <a:off x="3133725" y="2667000"/>
            <a:ext cx="323850" cy="152400"/>
          </a:xfrm>
          <a:prstGeom xmlns:a="http://schemas.openxmlformats.org/drawingml/2006/main" prst="rightArrow">
            <a:avLst/>
          </a:prstGeom>
          <a:solidFill xmlns:a="http://schemas.openxmlformats.org/drawingml/2006/main">
            <a:srgbClr val="51D6C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A20D8D8-1986-43DA-A091-A3D2AA4B65BE}"/>
              </a:ext>
            </a:extLst>
          </p:cNvPr>
          <p:cNvSpPr>
            <a:spLocks xmlns:a="http://schemas.openxmlformats.org/drawingml/2006/main" noGrp="1"/>
          </p:cNvSpPr>
          <p:nvPr/>
        </p:nvSpPr>
        <p:spPr>
          <a:xfrm xmlns:a="http://schemas.openxmlformats.org/drawingml/2006/main">
            <a:off x="6086475" y="2667000"/>
            <a:ext cx="323850" cy="152400"/>
          </a:xfrm>
          <a:prstGeom xmlns:a="http://schemas.openxmlformats.org/drawingml/2006/main" prst="rightArrow">
            <a:avLst/>
          </a:prstGeom>
          <a:solidFill xmlns:a="http://schemas.openxmlformats.org/drawingml/2006/main">
            <a:srgbClr val="51D6C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CB7F830-9B44-4866-B8A3-E88595B7EBFB}"/>
              </a:ext>
            </a:extLst>
          </p:cNvPr>
          <p:cNvSpPr>
            <a:spLocks xmlns:a="http://schemas.openxmlformats.org/drawingml/2006/main" noGrp="1"/>
          </p:cNvSpPr>
          <p:nvPr/>
        </p:nvSpPr>
        <p:spPr>
          <a:xfrm xmlns:a="http://schemas.openxmlformats.org/drawingml/2006/main">
            <a:off x="9086850" y="2667000"/>
            <a:ext cx="323850" cy="152400"/>
          </a:xfrm>
          <a:prstGeom xmlns:a="http://schemas.openxmlformats.org/drawingml/2006/main" prst="rightArrow">
            <a:avLst/>
          </a:prstGeom>
          <a:solidFill xmlns:a="http://schemas.openxmlformats.org/drawingml/2006/main">
            <a:srgbClr val="51D6C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B657100-37C4-4409-BA98-A40275D28CDF}"/>
              </a:ext>
            </a:extLst>
          </p:cNvPr>
          <p:cNvSpPr>
            <a:spLocks xmlns:a="http://schemas.openxmlformats.org/drawingml/2006/main" noGrp="1"/>
          </p:cNvSpPr>
          <p:nvPr/>
        </p:nvSpPr>
        <p:spPr>
          <a:xfrm xmlns:a="http://schemas.openxmlformats.org/drawingml/2006/main">
            <a:off x="609600" y="3962400"/>
            <a:ext cx="2514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51D6C4"/>
                </a:solidFill>
                <a:latin typeface="Arial"/>
                <a:ea typeface="Arial"/>
                <a:cs typeface="Arial"/>
              </a:defRPr>
            </a:pPr>
            <a:r>
              <a:rPr sz="1875" b="1">
                <a:solidFill>
                  <a:srgbClr val="51D6C4"/>
                </a:solidFill>
                <a:latin typeface="Arial"/>
                <a:ea typeface="Arial"/>
                <a:cs typeface="Arial"/>
              </a:rPr>
              <a:t>Data &amp; reporting</a:t>
            </a:r>
          </a:p>
        </p:txBody>
      </p:sp>
      <p:sp>
        <p:nvSpPr>
          <p:cNvPr id="21" name="">
            <a:extLst xmlns:a="http://schemas.openxmlformats.org/drawingml/2006/main">
              <a:ext uri="{FF2B5EF4-FFF2-40B4-BE49-F238E27FC236}">
                <a16:creationId xmlns:a16="http://schemas.microsoft.com/office/drawing/2014/main" id="{9557387B-A57A-487B-8D46-632C39E4904E}"/>
              </a:ext>
            </a:extLst>
          </p:cNvPr>
          <p:cNvSpPr>
            <a:spLocks xmlns:a="http://schemas.openxmlformats.org/drawingml/2006/main" noGrp="1"/>
          </p:cNvSpPr>
          <p:nvPr/>
        </p:nvSpPr>
        <p:spPr>
          <a:xfrm xmlns:a="http://schemas.openxmlformats.org/drawingml/2006/main">
            <a:off x="3371850" y="3962400"/>
            <a:ext cx="81819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SQLAlchemy · PostgreSQL / SQLite fallback · stored scans · PDF generation</a:t>
            </a:r>
          </a:p>
        </p:txBody>
      </p:sp>
      <p:sp>
        <p:nvSpPr>
          <p:cNvPr id="22" name="">
            <a:extLst xmlns:a="http://schemas.openxmlformats.org/drawingml/2006/main">
              <a:ext uri="{FF2B5EF4-FFF2-40B4-BE49-F238E27FC236}">
                <a16:creationId xmlns:a16="http://schemas.microsoft.com/office/drawing/2014/main" id="{49E98A16-F928-4676-9627-D7EFC6EE2AEF}"/>
              </a:ext>
            </a:extLst>
          </p:cNvPr>
          <p:cNvSpPr>
            <a:spLocks xmlns:a="http://schemas.openxmlformats.org/drawingml/2006/main" noGrp="1"/>
          </p:cNvSpPr>
          <p:nvPr/>
        </p:nvSpPr>
        <p:spPr>
          <a:xfrm xmlns:a="http://schemas.openxmlformats.org/drawingml/2006/main">
            <a:off x="609600" y="4676775"/>
            <a:ext cx="10972800" cy="0"/>
          </a:xfrm>
          <a:prstGeom xmlns:a="http://schemas.openxmlformats.org/drawingml/2006/main" prst="line">
            <a:avLst/>
          </a:prstGeom>
          <a:noFill xmlns:a="http://schemas.openxmlformats.org/drawingml/2006/main"/>
          <a:ln xmlns:a="http://schemas.openxmlformats.org/drawingml/2006/main" w="14288">
            <a:solidFill>
              <a:srgbClr val="3C5564"/>
            </a:solidFill>
          </a:ln>
        </p:spPr>
      </p:sp>
      <p:sp>
        <p:nvSpPr>
          <p:cNvPr id="23" name="">
            <a:extLst xmlns:a="http://schemas.openxmlformats.org/drawingml/2006/main">
              <a:ext uri="{FF2B5EF4-FFF2-40B4-BE49-F238E27FC236}">
                <a16:creationId xmlns:a16="http://schemas.microsoft.com/office/drawing/2014/main" id="{E439B2F7-8159-4C51-BD35-E1F9F44DC8ED}"/>
              </a:ext>
            </a:extLst>
          </p:cNvPr>
          <p:cNvSpPr>
            <a:spLocks xmlns:a="http://schemas.openxmlformats.org/drawingml/2006/main" noGrp="1"/>
          </p:cNvSpPr>
          <p:nvPr/>
        </p:nvSpPr>
        <p:spPr>
          <a:xfrm xmlns:a="http://schemas.openxmlformats.org/drawingml/2006/main">
            <a:off x="609600" y="4991100"/>
            <a:ext cx="2524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51D6C4"/>
                </a:solidFill>
                <a:latin typeface="Arial"/>
                <a:ea typeface="Arial"/>
                <a:cs typeface="Arial"/>
              </a:defRPr>
            </a:pPr>
            <a:r>
              <a:rPr sz="1350" b="1">
                <a:solidFill>
                  <a:srgbClr val="51D6C4"/>
                </a:solidFill>
                <a:latin typeface="Arial"/>
                <a:ea typeface="Arial"/>
                <a:cs typeface="Arial"/>
              </a:rPr>
              <a:t>LOCAL APP</a:t>
            </a:r>
          </a:p>
        </p:txBody>
      </p:sp>
      <p:sp>
        <p:nvSpPr>
          <p:cNvPr id="24" name="">
            <a:extLst xmlns:a="http://schemas.openxmlformats.org/drawingml/2006/main">
              <a:ext uri="{FF2B5EF4-FFF2-40B4-BE49-F238E27FC236}">
                <a16:creationId xmlns:a16="http://schemas.microsoft.com/office/drawing/2014/main" id="{75C83FAC-8FEA-41D8-ABA9-AC23611ECF99}"/>
              </a:ext>
            </a:extLst>
          </p:cNvPr>
          <p:cNvSpPr>
            <a:spLocks xmlns:a="http://schemas.openxmlformats.org/drawingml/2006/main" noGrp="1"/>
          </p:cNvSpPr>
          <p:nvPr/>
        </p:nvSpPr>
        <p:spPr>
          <a:xfrm xmlns:a="http://schemas.openxmlformats.org/drawingml/2006/main">
            <a:off x="609600" y="5410200"/>
            <a:ext cx="4953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Runs trained models, persists records</a:t>
            </a:r>
          </a:p>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and supports report review.</a:t>
            </a:r>
          </a:p>
        </p:txBody>
      </p:sp>
      <p:sp>
        <p:nvSpPr>
          <p:cNvPr id="25" name="">
            <a:extLst xmlns:a="http://schemas.openxmlformats.org/drawingml/2006/main">
              <a:ext uri="{FF2B5EF4-FFF2-40B4-BE49-F238E27FC236}">
                <a16:creationId xmlns:a16="http://schemas.microsoft.com/office/drawing/2014/main" id="{E83EE0C8-541A-41E4-9CAE-864812399A11}"/>
              </a:ext>
            </a:extLst>
          </p:cNvPr>
          <p:cNvSpPr>
            <a:spLocks xmlns:a="http://schemas.openxmlformats.org/drawingml/2006/main" noGrp="1"/>
          </p:cNvSpPr>
          <p:nvPr/>
        </p:nvSpPr>
        <p:spPr>
          <a:xfrm xmlns:a="http://schemas.openxmlformats.org/drawingml/2006/main">
            <a:off x="6400800" y="4991100"/>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F4CB69"/>
                </a:solidFill>
                <a:latin typeface="Arial"/>
                <a:ea typeface="Arial"/>
                <a:cs typeface="Arial"/>
              </a:defRPr>
            </a:pPr>
            <a:r>
              <a:rPr sz="1350" b="1">
                <a:solidFill>
                  <a:srgbClr val="F4CB69"/>
                </a:solidFill>
                <a:latin typeface="Arial"/>
                <a:ea typeface="Arial"/>
                <a:cs typeface="Arial"/>
              </a:rPr>
              <a:t>PUBLIC VERCEL DEMO</a:t>
            </a:r>
          </a:p>
        </p:txBody>
      </p:sp>
      <p:sp>
        <p:nvSpPr>
          <p:cNvPr id="26" name="">
            <a:extLst xmlns:a="http://schemas.openxmlformats.org/drawingml/2006/main">
              <a:ext uri="{FF2B5EF4-FFF2-40B4-BE49-F238E27FC236}">
                <a16:creationId xmlns:a16="http://schemas.microsoft.com/office/drawing/2014/main" id="{7CD6D670-7F04-48B5-A4A6-12A07EB6AF2B}"/>
              </a:ext>
            </a:extLst>
          </p:cNvPr>
          <p:cNvSpPr>
            <a:spLocks xmlns:a="http://schemas.openxmlformats.org/drawingml/2006/main" noGrp="1"/>
          </p:cNvSpPr>
          <p:nvPr/>
        </p:nvSpPr>
        <p:spPr>
          <a:xfrm xmlns:a="http://schemas.openxmlformats.org/drawingml/2006/main">
            <a:off x="6400800" y="5410200"/>
            <a:ext cx="5143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Nine saved examples; no online inference.</a:t>
            </a:r>
          </a:p>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Signing and sharing are simulated.</a:t>
            </a:r>
          </a:p>
        </p:txBody>
      </p:sp>
    </p:spTree>
    <p:extLst>
      <p:ext uri="{BB962C8B-B14F-4D97-AF65-F5344CB8AC3E}">
        <p14:creationId xmlns:p14="http://schemas.microsoft.com/office/powerpoint/2010/main" val="540400304"/>
      </p:ext>
    </p:extLst>
  </p:cSld>
</p:sld>
</file>

<file path=ppt/slides/slide5.xml><?xml version="1.0" encoding="utf-8"?>
<ns0:sld xmlns:a="http://schemas.openxmlformats.org/drawingml/2006/main" xmlns:ns0="http://schemas.openxmlformats.org/presentationml/2006/main" xmlns:ns2="http://schemas.microsoft.com/office/drawing/2014/main" xmlns:ns4="http://schemas.microsoft.com/office/powerpoint/2010/main" xmlns:r="http://schemas.openxmlformats.org/officeDocument/2006/relationships">
  <ns0:cSld>
    <ns0:bg>
      <ns0:bgPr>
        <a:solidFill>
          <a:srgbClr val="F6F9F8"/>
        </a:solidFill>
      </ns0:bgPr>
    </ns0:bg>
    <ns0:spTree>
      <ns0:nvGrpSpPr>
        <ns0:cNvPr id="1" name=""/>
        <ns0:cNvGrpSpPr/>
        <ns0:nvPr/>
      </ns0:nvGrpSpPr>
      <ns0:grpSpPr>
        <a:xfrm/>
      </ns0:grpSpPr>
      <ns0:sp>
        <ns0:nvSpPr>
          <ns0:cNvPr id="13" name="">
            <a:extLst>
              <a:ext uri="{FF2B5EF4-FFF2-40B4-BE49-F238E27FC236}">
                <ns2:creationId id="{DCAE0539-A406-4893-B07B-C6BBBD31AA81}"/>
              </a:ext>
            </a:extLst>
          </ns0:cNvPr>
          <ns0:cNvSpPr>
            <a:spLocks noGrp="1"/>
          </ns0:cNvSpPr>
          <ns0:nvPr/>
        </ns0:nvSpPr>
        <ns0:spPr>
          <a:xfrm>
            <a:off x="609600" y="428625"/>
            <a:ext cx="10934700" cy="857250"/>
          </a:xfrm>
          <a:prstGeom prst="rect">
            <a:avLst/>
          </a:prstGeom>
          <a:noFill/>
          <a:ln w="0">
            <a:noFill/>
          </a:ln>
        </ns0:spPr>
        <ns0:txBody>
          <a:bodyPr lIns="0" tIns="0" rIns="0" bIns="0">
            <a:noAutofit/>
          </a:bodyPr>
          <a:lstStyle/>
          <a:p>
            <a:pPr>
              <a:defRPr sz="3300" b="1">
                <a:solidFill>
                  <a:srgbClr val="102C3C"/>
                </a:solidFill>
                <a:latin typeface="Arial"/>
                <a:ea typeface="Arial"/>
                <a:cs typeface="Arial"/>
              </a:defRPr>
            </a:pPr>
            <a:r>
              <a:rPr sz="3300" b="1">
                <a:solidFill>
                  <a:srgbClr val="102C3C"/>
                </a:solidFill>
                <a:latin typeface="Arial"/>
                <a:ea typeface="Arial"/>
                <a:cs typeface="Arial"/>
              </a:rPr>
              <a:t>Prototype / Demo Walkthrough</a:t>
            </a:r>
          </a:p>
        </ns0:txBody>
      </ns0:sp>
      <ns0:sp>
        <ns0:nvSpPr>
          <ns0:cNvPr id="2" name="">
            <a:extLst>
              <a:ext uri="{FF2B5EF4-FFF2-40B4-BE49-F238E27FC236}">
                <ns2:creationId id="{3988730B-E12B-4261-9062-6411B6D55718}"/>
              </a:ext>
            </a:extLst>
          </ns0:cNvPr>
          <ns0:cNvSpPr>
            <a:spLocks noGrp="1"/>
          </ns0:cNvSpPr>
          <ns0:nvPr/>
        </ns0:nvSpPr>
        <ns0:spPr>
          <a:xfrm>
            <a:off x="609600" y="6429375"/>
            <a:ext cx="6191250" cy="209550"/>
          </a:xfrm>
          <a:prstGeom prst="rect">
            <a:avLst/>
          </a:prstGeom>
          <a:noFill/>
          <a:ln w="0">
            <a:noFill/>
          </a:ln>
        </ns0:spPr>
        <ns0:txBody>
          <a:bodyPr lIns="0" tIns="0" rIns="0" bIns="0">
            <a:noAutofit/>
          </a:bodyPr>
          <a:lstStyle/>
          <a:p>
            <a:pPr>
              <a:defRPr sz="1200" b="0">
                <a:solidFill>
                  <a:srgbClr val="526976"/>
                </a:solidFill>
                <a:latin typeface="Arial"/>
                <a:ea typeface="Arial"/>
                <a:cs typeface="Arial"/>
              </a:defRPr>
            </a:pPr>
            <a:r>
              <a:rPr sz="1200" b="0">
                <a:solidFill>
                  <a:srgbClr val="526976"/>
                </a:solidFill>
                <a:latin typeface="Arial"/>
                <a:ea typeface="Arial"/>
                <a:cs typeface="Arial"/>
              </a:rPr>
              <a:t>OncoCatch  /  AuraMed</a:t>
            </a:r>
          </a:p>
        </ns0:txBody>
      </ns0:sp>
      <ns0:sp>
        <ns0:nvSpPr>
          <ns0:cNvPr id="3" name="">
            <a:extLst>
              <a:ext uri="{FF2B5EF4-FFF2-40B4-BE49-F238E27FC236}">
                <ns2:creationId id="{A211F4FC-8480-423D-A1B7-D43224E7E283}"/>
              </a:ext>
            </a:extLst>
          </ns0:cNvPr>
          <ns0:cNvSpPr>
            <a:spLocks noGrp="1"/>
          </ns0:cNvSpPr>
          <ns0:nvPr/>
        </ns0:nvSpPr>
        <ns0:spPr>
          <a:xfrm>
            <a:off x="10668000" y="6429375"/>
            <a:ext cx="952500" cy="209550"/>
          </a:xfrm>
          <a:prstGeom prst="rect">
            <a:avLst/>
          </a:prstGeom>
          <a:noFill/>
          <a:ln w="0">
            <a:noFill/>
          </a:ln>
        </ns0:spPr>
        <ns0:txBody>
          <a:bodyPr lIns="0" tIns="0" rIns="0" bIns="0">
            <a:noAutofit/>
          </a:bodyPr>
          <a:lstStyle/>
          <a:p>
            <a:pPr>
              <a:defRPr sz="1200" b="0">
                <a:solidFill>
                  <a:srgbClr val="526976"/>
                </a:solidFill>
                <a:latin typeface="Arial"/>
                <a:ea typeface="Arial"/>
                <a:cs typeface="Arial"/>
              </a:defRPr>
            </a:pPr>
            <a:r>
              <a:rPr sz="1200" b="0">
                <a:solidFill>
                  <a:srgbClr val="526976"/>
                </a:solidFill>
                <a:latin typeface="Arial"/>
                <a:ea typeface="Arial"/>
                <a:cs typeface="Arial"/>
              </a:rPr>
              <a:t>05 / 11</a:t>
            </a:r>
          </a:p>
        </ns0:txBody>
      </ns0:sp>
      <ns0:sp>
        <ns0:nvSpPr>
          <ns0:cNvPr id="4" name="">
            <a:extLst>
              <a:ext uri="{FF2B5EF4-FFF2-40B4-BE49-F238E27FC236}">
                <ns2:creationId id="{2F47E778-A9FB-491D-89F2-E72B769BC572}"/>
              </a:ext>
            </a:extLst>
          </ns0:cNvPr>
          <ns0:cNvSpPr>
            <a:spLocks noGrp="1"/>
          </ns0:cNvSpPr>
          <ns0:nvPr/>
        </ns0:nvSpPr>
        <ns0:spPr>
          <a:xfrm>
            <a:off x="609600" y="1343025"/>
            <a:ext cx="10934700" cy="457200"/>
          </a:xfrm>
          <a:prstGeom prst="rect">
            <a:avLst/>
          </a:prstGeom>
          <a:noFill/>
          <a:ln w="0">
            <a:noFill/>
          </a:ln>
        </ns0:spPr>
        <ns0:txBody>
          <a:bodyPr lIns="0" tIns="0" rIns="0" bIns="0">
            <a:noAutofit/>
          </a:bodyPr>
          <a:lstStyle/>
          <a:p>
            <a:pPr>
              <a:defRPr sz="2100" b="0">
                <a:solidFill>
                  <a:srgbClr val="526976"/>
                </a:solidFill>
                <a:latin typeface="Arial"/>
                <a:ea typeface="Arial"/>
                <a:cs typeface="Arial"/>
              </a:defRPr>
            </a:pPr>
            <a:r>
              <a:rPr sz="2100" b="0">
                <a:solidFill>
                  <a:srgbClr val="526976"/>
                </a:solidFill>
                <a:latin typeface="Arial"/>
                <a:ea typeface="Arial"/>
                <a:cs typeface="Arial"/>
              </a:rPr>
              <a:t>Prepare an examination → inspect evidence → review the report</a:t>
            </a:r>
          </a:p>
        </ns0:txBody>
      </ns0:sp>
      <ns0:sp>
        <ns0:nvSpPr>
          <ns0:cNvPr id="5" name="">
            <a:extLst>
              <a:ext uri="{FF2B5EF4-FFF2-40B4-BE49-F238E27FC236}">
                <ns2:creationId id="{1EF7526F-720F-4D06-880A-88E7A6175911}"/>
              </a:ext>
            </a:extLst>
          </ns0:cNvPr>
          <ns0:cNvSpPr>
            <a:spLocks noGrp="1"/>
          </ns0:cNvSpPr>
          <ns0:nvPr/>
        </ns0:nvSpPr>
        <ns0:spPr>
          <a:xfrm>
            <a:off x="609600" y="2095500"/>
            <a:ext cx="3505200" cy="381000"/>
          </a:xfrm>
          <a:prstGeom prst="rect">
            <a:avLst/>
          </a:prstGeom>
          <a:noFill/>
          <a:ln w="0">
            <a:noFill/>
          </a:ln>
        </ns0:spPr>
        <ns0:txBody>
          <a:bodyPr lIns="0" tIns="0" rIns="0" bIns="0">
            <a:noAutofit/>
          </a:bodyPr>
          <a:lstStyle/>
          <a:p>
            <a:pPr>
              <a:defRPr sz="1800" b="1">
                <a:solidFill>
                  <a:srgbClr val="087F83"/>
                </a:solidFill>
                <a:latin typeface="Arial"/>
                <a:ea typeface="Arial"/>
                <a:cs typeface="Arial"/>
              </a:defRPr>
            </a:pPr>
            <a:r>
              <a:rPr sz="1800" b="1">
                <a:solidFill>
                  <a:srgbClr val="087F83"/>
                </a:solidFill>
                <a:latin typeface="Arial"/>
                <a:ea typeface="Arial"/>
                <a:cs typeface="Arial"/>
              </a:rPr>
              <a:t>01  Scan + clinical inputs</a:t>
            </a:r>
          </a:p>
        </ns0:txBody>
      </ns0:sp>
      <ns0:pic>
        <ns0:nvPicPr>
          <ns0:cNvPr id="18" name=""/>
          <ns0:cNvPicPr>
            <a:picLocks noChangeAspect="1"/>
          </ns0:cNvPicPr>
          <ns0:nvPr/>
        </ns0:nvPicPr>
        <ns0:blipFill>
          <a:blip r:embed="R4d1c1ac34f294e3b"/>
          <a:stretch/>
        </ns0:blipFill>
        <ns0:spPr>
          <a:xfrm>
            <a:off x="609600" y="3004875"/>
            <a:ext cx="3505200" cy="1972200"/>
          </a:xfrm>
          <a:prstGeom prst="rect">
            <a:avLst/>
          </a:prstGeom>
        </ns0:spPr>
      </ns0:pic>
      <ns0:sp>
        <ns0:nvSpPr>
          <ns0:cNvPr id="7" name="">
            <a:extLst>
              <a:ext uri="{FF2B5EF4-FFF2-40B4-BE49-F238E27FC236}">
                <ns2:creationId id="{8DC253F1-18CA-4442-BBD1-8C78367CA571}"/>
              </a:ext>
            </a:extLst>
          </ns0:cNvPr>
          <ns0:cNvSpPr>
            <a:spLocks noGrp="1"/>
          </ns0:cNvSpPr>
          <ns0:nvPr/>
        </ns0:nvSpPr>
        <ns0:spPr>
          <a:xfrm>
            <a:off x="4343400" y="2095500"/>
            <a:ext cx="3505200" cy="381000"/>
          </a:xfrm>
          <a:prstGeom prst="rect">
            <a:avLst/>
          </a:prstGeom>
          <a:noFill/>
          <a:ln w="0">
            <a:noFill/>
          </a:ln>
        </ns0:spPr>
        <ns0:txBody>
          <a:bodyPr lIns="0" tIns="0" rIns="0" bIns="0">
            <a:noAutofit/>
          </a:bodyPr>
          <a:lstStyle/>
          <a:p>
            <a:pPr>
              <a:defRPr sz="1800" b="1">
                <a:solidFill>
                  <a:srgbClr val="087F83"/>
                </a:solidFill>
                <a:latin typeface="Arial"/>
                <a:ea typeface="Arial"/>
                <a:cs typeface="Arial"/>
              </a:defRPr>
            </a:pPr>
            <a:r>
              <a:rPr sz="1800" b="1">
                <a:solidFill>
                  <a:srgbClr val="087F83"/>
                </a:solidFill>
                <a:latin typeface="Arial"/>
                <a:ea typeface="Arial"/>
                <a:cs typeface="Arial"/>
              </a:rPr>
              <a:t>02  Findings + heatmap</a:t>
            </a:r>
          </a:p>
        </ns0:txBody>
      </ns0:sp>
      <ns0:pic>
        <ns0:nvPicPr>
          <ns0:cNvPr id="20" name=""/>
          <ns0:cNvPicPr>
            <a:picLocks noChangeAspect="1"/>
          </ns0:cNvPicPr>
          <ns0:nvPr/>
        </ns0:nvPicPr>
        <ns0:blipFill>
          <a:blip r:embed="R3db8f334905047de"/>
          <a:stretch/>
        </ns0:blipFill>
        <ns0:spPr>
          <a:xfrm>
            <a:off x="4670605" y="2657475"/>
            <a:ext cx="2850790" cy="2667000"/>
          </a:xfrm>
          <a:prstGeom prst="rect">
            <a:avLst/>
          </a:prstGeom>
        </ns0:spPr>
      </ns0:pic>
      <ns0:sp>
        <ns0:nvSpPr>
          <ns0:cNvPr id="9" name="">
            <a:extLst>
              <a:ext uri="{FF2B5EF4-FFF2-40B4-BE49-F238E27FC236}">
                <ns2:creationId id="{60F4C8A8-62E3-4AA9-810D-99F1E5721BE6}"/>
              </a:ext>
            </a:extLst>
          </ns0:cNvPr>
          <ns0:cNvSpPr>
            <a:spLocks noGrp="1"/>
          </ns0:cNvSpPr>
          <ns0:nvPr/>
        </ns0:nvSpPr>
        <ns0:spPr>
          <a:xfrm>
            <a:off x="8077200" y="2095500"/>
            <a:ext cx="3505200" cy="381000"/>
          </a:xfrm>
          <a:prstGeom prst="rect">
            <a:avLst/>
          </a:prstGeom>
          <a:noFill/>
          <a:ln w="0">
            <a:noFill/>
          </a:ln>
        </ns0:spPr>
        <ns0:txBody>
          <a:bodyPr lIns="0" tIns="0" rIns="0" bIns="0">
            <a:noAutofit/>
          </a:bodyPr>
          <a:lstStyle/>
          <a:p>
            <a:pPr>
              <a:defRPr sz="1800" b="1">
                <a:solidFill>
                  <a:srgbClr val="087F83"/>
                </a:solidFill>
                <a:latin typeface="Arial"/>
                <a:ea typeface="Arial"/>
                <a:cs typeface="Arial"/>
              </a:defRPr>
            </a:pPr>
            <a:r>
              <a:rPr sz="1800" b="1">
                <a:solidFill>
                  <a:srgbClr val="087F83"/>
                </a:solidFill>
                <a:latin typeface="Arial"/>
                <a:ea typeface="Arial"/>
                <a:cs typeface="Arial"/>
              </a:rPr>
              <a:t>03  Report review</a:t>
            </a:r>
          </a:p>
        </ns0:txBody>
      </ns0:sp>
      <ns0:pic>
        <ns0:nvPicPr>
          <ns0:cNvPr id="22" name=""/>
          <ns0:cNvPicPr>
            <a:picLocks noChangeAspect="1"/>
          </ns0:cNvPicPr>
          <ns0:nvPr/>
        </ns0:nvPicPr>
        <ns0:blipFill>
          <a:blip r:embed="R85a1c72afbc54f73"/>
          <a:stretch/>
        </ns0:blipFill>
        <ns0:spPr>
          <a:xfrm>
            <a:off x="8077200" y="3004875"/>
            <a:ext cx="3505200" cy="1972200"/>
          </a:xfrm>
          <a:prstGeom prst="rect">
            <a:avLst/>
          </a:prstGeom>
        </ns0:spPr>
      </ns0:pic>
      <ns0:sp>
        <ns0:nvSpPr>
          <ns0:cNvPr id="11" name="">
            <a:extLst>
              <a:ext uri="{FF2B5EF4-FFF2-40B4-BE49-F238E27FC236}">
                <ns2:creationId id="{AD7DC471-DD62-43BF-89A4-8204070E3B49}"/>
              </a:ext>
            </a:extLst>
          </ns0:cNvPr>
          <ns0:cNvSpPr>
            <a:spLocks noGrp="1"/>
          </ns0:cNvSpPr>
          <ns0:nvPr/>
        </ns0:nvSpPr>
        <ns0:spPr>
          <a:xfrm>
            <a:off x="609600" y="5467350"/>
            <a:ext cx="10934700" cy="342900"/>
          </a:xfrm>
          <a:prstGeom prst="rect">
            <a:avLst/>
          </a:prstGeom>
          <a:noFill/>
          <a:ln w="0">
            <a:noFill/>
          </a:ln>
        </ns0:spPr>
        <ns0:txBody>
          <a:bodyPr lIns="0" tIns="0" rIns="0" bIns="0">
            <a:noAutofit/>
          </a:bodyPr>
          <a:lstStyle/>
          <a:p>
            <a:pPr>
              <a:defRPr sz="1650" b="0">
                <a:solidFill>
                  <a:srgbClr val="526976"/>
                </a:solidFill>
                <a:latin typeface="Arial"/>
                <a:ea typeface="Arial"/>
                <a:cs typeface="Arial"/>
              </a:defRPr>
            </a:pPr>
            <a:r>
              <a:rPr sz="1650" b="0">
                <a:solidFill>
                  <a:srgbClr val="526976"/>
                </a:solidFill>
                <a:latin typeface="Arial"/>
                <a:ea typeface="Arial"/>
                <a:cs typeface="Arial"/>
              </a:rPr>
              <a:t>Screens: public saved-example demo. Live presentation: local model inference.</a:t>
            </a:r>
          </a:p>
        </ns0:txBody>
      </ns0:sp>
      <ns0:sp>
        <ns0:nvSpPr>
          <ns0:cNvPr id="12" name="">
            <a:extLst>
              <a:ext uri="{FF2B5EF4-FFF2-40B4-BE49-F238E27FC236}">
                <ns2:creationId id="{7D355790-1D8B-422D-8349-5F55DC129A94}"/>
              </a:ext>
            </a:extLst>
          </ns0:cNvPr>
          <ns0:cNvSpPr>
            <a:spLocks noGrp="1"/>
          </ns0:cNvSpPr>
          <ns0:nvPr/>
        </ns0:nvSpPr>
        <ns0:spPr>
          <a:xfrm>
            <a:off x="609600" y="5905500"/>
            <a:ext cx="10934700" cy="333375"/>
          </a:xfrm>
          <a:prstGeom prst="rect">
            <a:avLst/>
          </a:prstGeom>
          <a:noFill/>
          <a:ln w="0">
            <a:noFill/>
          </a:ln>
        </ns0:spPr>
        <ns0:txBody>
          <a:bodyPr lIns="0" tIns="0" rIns="0" bIns="0">
            <a:noAutofit/>
          </a:bodyPr>
          <a:lstStyle/>
          <a:p>
            <a:pPr>
              <a:defRPr sz="1800" b="1">
                <a:solidFill>
                  <a:srgbClr val="087F83"/>
                </a:solidFill>
                <a:latin typeface="Arial"/>
                <a:ea typeface="Arial"/>
                <a:cs typeface="Arial"/>
              </a:defRPr>
            </a:pPr>
            <a:r>
              <a:rPr sz="1800" b="1">
                <a:solidFill>
                  <a:srgbClr val="087F83"/>
                </a:solidFill>
                <a:latin typeface="Arial"/>
                <a:ea typeface="Arial"/>
                <a:cs typeface="Arial"/>
                <a:hlinkClick r:id="rIdAuraMedLink1"/>
              </a:rPr>
              <a:t>Watch the recorded demo: youtu.be/Dbne7Zs1pR8</a:t>
            </a:r>
          </a:p>
        </ns0:txBody>
      </ns0:sp>
    </ns0:spTree>
    <ns0:extLst>
      <ns0:ext uri="{BB962C8B-B14F-4D97-AF65-F5344CB8AC3E}">
        <ns4:creationId val="1108046460"/>
      </ns0:ext>
    </ns0:extLst>
  </ns0:cSld>
</ns0:sld>
</file>

<file path=ppt/slides/slide6.xml><?xml version="1.0" encoding="utf-8"?>
<p:sld xmlns:p="http://schemas.openxmlformats.org/presentationml/2006/main">
  <p:cSld>
    <p:bg>
      <p:bgPr>
        <a:solidFill xmlns:a="http://schemas.openxmlformats.org/drawingml/2006/main">
          <a:srgbClr val="F6F9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6994D28-0CEF-4315-999F-4F264A74618A}"/>
              </a:ext>
            </a:extLst>
          </p:cNvPr>
          <p:cNvSpPr>
            <a:spLocks xmlns:a="http://schemas.openxmlformats.org/drawingml/2006/main" noGrp="1"/>
          </p:cNvSpPr>
          <p:nvPr/>
        </p:nvSpPr>
        <p:spPr>
          <a:xfrm xmlns:a="http://schemas.openxmlformats.org/drawingml/2006/main">
            <a:off x="609600" y="428625"/>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Innovation &amp; Uniqueness</a:t>
            </a:r>
          </a:p>
        </p:txBody>
      </p:sp>
      <p:sp>
        <p:nvSpPr>
          <p:cNvPr id="2" name="">
            <a:extLst xmlns:a="http://schemas.openxmlformats.org/drawingml/2006/main">
              <a:ext uri="{FF2B5EF4-FFF2-40B4-BE49-F238E27FC236}">
                <a16:creationId xmlns:a16="http://schemas.microsoft.com/office/drawing/2014/main" id="{A553430E-DAC2-4A62-85CA-AE3E1815B1EA}"/>
              </a:ext>
            </a:extLst>
          </p:cNvPr>
          <p:cNvSpPr>
            <a:spLocks xmlns:a="http://schemas.openxmlformats.org/drawingml/2006/main" noGrp="1"/>
          </p:cNvSpPr>
          <p:nvPr/>
        </p:nvSpPr>
        <p:spPr>
          <a:xfrm xmlns:a="http://schemas.openxmlformats.org/drawingml/2006/main">
            <a:off x="609600" y="64293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26976"/>
                </a:solidFill>
                <a:latin typeface="Arial"/>
                <a:ea typeface="Arial"/>
                <a:cs typeface="Arial"/>
              </a:defRPr>
            </a:pPr>
            <a:r>
              <a:rPr sz="1200" b="0">
                <a:solidFill>
                  <a:srgbClr val="526976"/>
                </a:solidFill>
                <a:latin typeface="Arial"/>
                <a:ea typeface="Arial"/>
                <a:cs typeface="Arial"/>
              </a:rPr>
              <a:t>OncoCatch  /  AuraMed</a:t>
            </a:r>
          </a:p>
        </p:txBody>
      </p:sp>
      <p:sp>
        <p:nvSpPr>
          <p:cNvPr id="3" name="">
            <a:extLst xmlns:a="http://schemas.openxmlformats.org/drawingml/2006/main">
              <a:ext uri="{FF2B5EF4-FFF2-40B4-BE49-F238E27FC236}">
                <a16:creationId xmlns:a16="http://schemas.microsoft.com/office/drawing/2014/main" id="{4C2E7EED-EA9F-4BF2-A8CC-377A37914EB7}"/>
              </a:ext>
            </a:extLst>
          </p:cNvPr>
          <p:cNvSpPr>
            <a:spLocks xmlns:a="http://schemas.openxmlformats.org/drawingml/2006/main" noGrp="1"/>
          </p:cNvSpPr>
          <p:nvPr/>
        </p:nvSpPr>
        <p:spPr>
          <a:xfrm xmlns:a="http://schemas.openxmlformats.org/drawingml/2006/main">
            <a:off x="10668000" y="642937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26976"/>
                </a:solidFill>
                <a:latin typeface="Arial"/>
                <a:ea typeface="Arial"/>
                <a:cs typeface="Arial"/>
              </a:defRPr>
            </a:pPr>
            <a:r>
              <a:rPr sz="1200" b="0">
                <a:solidFill>
                  <a:srgbClr val="526976"/>
                </a:solidFill>
                <a:latin typeface="Arial"/>
                <a:ea typeface="Arial"/>
                <a:cs typeface="Arial"/>
              </a:rPr>
              <a:t>06 / 11</a:t>
            </a:r>
          </a:p>
        </p:txBody>
      </p:sp>
      <p:sp>
        <p:nvSpPr>
          <p:cNvPr id="4" name="">
            <a:extLst xmlns:a="http://schemas.openxmlformats.org/drawingml/2006/main">
              <a:ext uri="{FF2B5EF4-FFF2-40B4-BE49-F238E27FC236}">
                <a16:creationId xmlns:a16="http://schemas.microsoft.com/office/drawing/2014/main" id="{C31C69EC-218F-4059-ADEC-CCA1ECEF358C}"/>
              </a:ext>
            </a:extLst>
          </p:cNvPr>
          <p:cNvSpPr>
            <a:spLocks xmlns:a="http://schemas.openxmlformats.org/drawingml/2006/main" noGrp="1"/>
          </p:cNvSpPr>
          <p:nvPr/>
        </p:nvSpPr>
        <p:spPr>
          <a:xfrm xmlns:a="http://schemas.openxmlformats.org/drawingml/2006/main">
            <a:off x="609600" y="1381125"/>
            <a:ext cx="109347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526976"/>
                </a:solidFill>
                <a:latin typeface="Arial"/>
                <a:ea typeface="Arial"/>
                <a:cs typeface="Arial"/>
              </a:defRPr>
            </a:pPr>
            <a:r>
              <a:rPr sz="2100" b="0">
                <a:solidFill>
                  <a:srgbClr val="526976"/>
                </a:solidFill>
                <a:latin typeface="Arial"/>
                <a:ea typeface="Arial"/>
                <a:cs typeface="Arial"/>
              </a:rPr>
              <a:t>A standalone prediction stops at a score. AuraMed carries it into a reviewed care workflow.</a:t>
            </a:r>
          </a:p>
        </p:txBody>
      </p:sp>
      <p:sp>
        <p:nvSpPr>
          <p:cNvPr id="5" name="">
            <a:extLst xmlns:a="http://schemas.openxmlformats.org/drawingml/2006/main">
              <a:ext uri="{FF2B5EF4-FFF2-40B4-BE49-F238E27FC236}">
                <a16:creationId xmlns:a16="http://schemas.microsoft.com/office/drawing/2014/main" id="{3164B65C-1135-4697-AA3D-44DF57E58F69}"/>
              </a:ext>
            </a:extLst>
          </p:cNvPr>
          <p:cNvSpPr>
            <a:spLocks xmlns:a="http://schemas.openxmlformats.org/drawingml/2006/main" noGrp="1"/>
          </p:cNvSpPr>
          <p:nvPr/>
        </p:nvSpPr>
        <p:spPr>
          <a:xfrm xmlns:a="http://schemas.openxmlformats.org/drawingml/2006/main">
            <a:off x="609600" y="2486025"/>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526976"/>
                </a:solidFill>
                <a:latin typeface="Arial"/>
                <a:ea typeface="Arial"/>
                <a:cs typeface="Arial"/>
              </a:defRPr>
            </a:pPr>
            <a:r>
              <a:rPr sz="2025" b="1">
                <a:solidFill>
                  <a:srgbClr val="526976"/>
                </a:solidFill>
                <a:latin typeface="Arial"/>
                <a:ea typeface="Arial"/>
                <a:cs typeface="Arial"/>
              </a:rPr>
              <a:t>Common starting point</a:t>
            </a:r>
          </a:p>
        </p:txBody>
      </p:sp>
      <p:sp>
        <p:nvSpPr>
          <p:cNvPr id="6" name="">
            <a:extLst xmlns:a="http://schemas.openxmlformats.org/drawingml/2006/main">
              <a:ext uri="{FF2B5EF4-FFF2-40B4-BE49-F238E27FC236}">
                <a16:creationId xmlns:a16="http://schemas.microsoft.com/office/drawing/2014/main" id="{A4462CB1-3C88-4BAA-987D-B01C7B6A9D63}"/>
              </a:ext>
            </a:extLst>
          </p:cNvPr>
          <p:cNvSpPr>
            <a:spLocks xmlns:a="http://schemas.openxmlformats.org/drawingml/2006/main" noGrp="1"/>
          </p:cNvSpPr>
          <p:nvPr/>
        </p:nvSpPr>
        <p:spPr>
          <a:xfrm xmlns:a="http://schemas.openxmlformats.org/drawingml/2006/main">
            <a:off x="6381750" y="248602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AuraMed’s approach</a:t>
            </a:r>
          </a:p>
        </p:txBody>
      </p:sp>
      <p:sp>
        <p:nvSpPr>
          <p:cNvPr id="7" name="">
            <a:extLst xmlns:a="http://schemas.openxmlformats.org/drawingml/2006/main">
              <a:ext uri="{FF2B5EF4-FFF2-40B4-BE49-F238E27FC236}">
                <a16:creationId xmlns:a16="http://schemas.microsoft.com/office/drawing/2014/main" id="{C7D03603-C450-409F-B7EA-7DF026682899}"/>
              </a:ext>
            </a:extLst>
          </p:cNvPr>
          <p:cNvSpPr>
            <a:spLocks xmlns:a="http://schemas.openxmlformats.org/drawingml/2006/main" noGrp="1"/>
          </p:cNvSpPr>
          <p:nvPr/>
        </p:nvSpPr>
        <p:spPr>
          <a:xfrm xmlns:a="http://schemas.openxmlformats.org/drawingml/2006/main">
            <a:off x="609600" y="3190875"/>
            <a:ext cx="4686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02C3C"/>
                </a:solidFill>
                <a:latin typeface="Arial"/>
                <a:ea typeface="Arial"/>
                <a:cs typeface="Arial"/>
              </a:defRPr>
            </a:pPr>
            <a:r>
              <a:rPr sz="1950" b="0">
                <a:solidFill>
                  <a:srgbClr val="102C3C"/>
                </a:solidFill>
                <a:latin typeface="Arial"/>
                <a:ea typeface="Arial"/>
                <a:cs typeface="Arial"/>
              </a:rPr>
              <a:t>Image classifier output</a:t>
            </a:r>
          </a:p>
        </p:txBody>
      </p:sp>
      <p:sp>
        <p:nvSpPr>
          <p:cNvPr id="8" name="">
            <a:extLst xmlns:a="http://schemas.openxmlformats.org/drawingml/2006/main">
              <a:ext uri="{FF2B5EF4-FFF2-40B4-BE49-F238E27FC236}">
                <a16:creationId xmlns:a16="http://schemas.microsoft.com/office/drawing/2014/main" id="{F978AAE0-430E-4042-8AC6-1836276CCC0A}"/>
              </a:ext>
            </a:extLst>
          </p:cNvPr>
          <p:cNvSpPr>
            <a:spLocks xmlns:a="http://schemas.openxmlformats.org/drawingml/2006/main" noGrp="1"/>
          </p:cNvSpPr>
          <p:nvPr/>
        </p:nvSpPr>
        <p:spPr>
          <a:xfrm xmlns:a="http://schemas.openxmlformats.org/drawingml/2006/main">
            <a:off x="5505450" y="3314700"/>
            <a:ext cx="400050" cy="152400"/>
          </a:xfrm>
          <a:prstGeom xmlns:a="http://schemas.openxmlformats.org/drawingml/2006/main" prst="rightArrow">
            <a:avLst/>
          </a:prstGeom>
          <a:solidFill xmlns:a="http://schemas.openxmlformats.org/drawingml/2006/main">
            <a:srgbClr val="087F8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44E0FD2-107A-40AE-AF33-002C523D238F}"/>
              </a:ext>
            </a:extLst>
          </p:cNvPr>
          <p:cNvSpPr>
            <a:spLocks xmlns:a="http://schemas.openxmlformats.org/drawingml/2006/main" noGrp="1"/>
          </p:cNvSpPr>
          <p:nvPr/>
        </p:nvSpPr>
        <p:spPr>
          <a:xfrm xmlns:a="http://schemas.openxmlformats.org/drawingml/2006/main">
            <a:off x="6381750" y="3190875"/>
            <a:ext cx="5191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102C3C"/>
                </a:solidFill>
                <a:latin typeface="Arial"/>
                <a:ea typeface="Arial"/>
                <a:cs typeface="Arial"/>
              </a:defRPr>
            </a:pPr>
            <a:r>
              <a:rPr sz="1950" b="1">
                <a:solidFill>
                  <a:srgbClr val="102C3C"/>
                </a:solidFill>
                <a:latin typeface="Arial"/>
                <a:ea typeface="Arial"/>
                <a:cs typeface="Arial"/>
              </a:rPr>
              <a:t>Image score + explicit clinical scoring</a:t>
            </a:r>
          </a:p>
        </p:txBody>
      </p:sp>
      <p:sp>
        <p:nvSpPr>
          <p:cNvPr id="10" name="">
            <a:extLst xmlns:a="http://schemas.openxmlformats.org/drawingml/2006/main">
              <a:ext uri="{FF2B5EF4-FFF2-40B4-BE49-F238E27FC236}">
                <a16:creationId xmlns:a16="http://schemas.microsoft.com/office/drawing/2014/main" id="{18261E18-4A95-4B51-8D62-7507EA733B9F}"/>
              </a:ext>
            </a:extLst>
          </p:cNvPr>
          <p:cNvSpPr>
            <a:spLocks xmlns:a="http://schemas.openxmlformats.org/drawingml/2006/main" noGrp="1"/>
          </p:cNvSpPr>
          <p:nvPr/>
        </p:nvSpPr>
        <p:spPr>
          <a:xfrm xmlns:a="http://schemas.openxmlformats.org/drawingml/2006/main">
            <a:off x="609600" y="3876675"/>
            <a:ext cx="10972800" cy="0"/>
          </a:xfrm>
          <a:prstGeom xmlns:a="http://schemas.openxmlformats.org/drawingml/2006/main" prst="line">
            <a:avLst/>
          </a:prstGeom>
          <a:noFill xmlns:a="http://schemas.openxmlformats.org/drawingml/2006/main"/>
          <a:ln xmlns:a="http://schemas.openxmlformats.org/drawingml/2006/main" w="14288">
            <a:solidFill>
              <a:srgbClr val="B9CDCF"/>
            </a:solidFill>
          </a:ln>
        </p:spPr>
      </p:sp>
      <p:sp>
        <p:nvSpPr>
          <p:cNvPr id="11" name="">
            <a:extLst xmlns:a="http://schemas.openxmlformats.org/drawingml/2006/main">
              <a:ext uri="{FF2B5EF4-FFF2-40B4-BE49-F238E27FC236}">
                <a16:creationId xmlns:a16="http://schemas.microsoft.com/office/drawing/2014/main" id="{B783BF16-5BFB-4022-ACCB-265FCDEBED50}"/>
              </a:ext>
            </a:extLst>
          </p:cNvPr>
          <p:cNvSpPr>
            <a:spLocks xmlns:a="http://schemas.openxmlformats.org/drawingml/2006/main" noGrp="1"/>
          </p:cNvSpPr>
          <p:nvPr/>
        </p:nvSpPr>
        <p:spPr>
          <a:xfrm xmlns:a="http://schemas.openxmlformats.org/drawingml/2006/main">
            <a:off x="609600" y="4038600"/>
            <a:ext cx="4686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02C3C"/>
                </a:solidFill>
                <a:latin typeface="Arial"/>
                <a:ea typeface="Arial"/>
                <a:cs typeface="Arial"/>
              </a:defRPr>
            </a:pPr>
            <a:r>
              <a:rPr sz="1950" b="0">
                <a:solidFill>
                  <a:srgbClr val="102C3C"/>
                </a:solidFill>
                <a:latin typeface="Arial"/>
                <a:ea typeface="Arial"/>
                <a:cs typeface="Arial"/>
              </a:rPr>
              <a:t>Clinical checklist in another step</a:t>
            </a:r>
          </a:p>
        </p:txBody>
      </p:sp>
      <p:sp>
        <p:nvSpPr>
          <p:cNvPr id="12" name="">
            <a:extLst xmlns:a="http://schemas.openxmlformats.org/drawingml/2006/main">
              <a:ext uri="{FF2B5EF4-FFF2-40B4-BE49-F238E27FC236}">
                <a16:creationId xmlns:a16="http://schemas.microsoft.com/office/drawing/2014/main" id="{F7454A35-5FD9-46BB-A6F4-338780DB7828}"/>
              </a:ext>
            </a:extLst>
          </p:cNvPr>
          <p:cNvSpPr>
            <a:spLocks xmlns:a="http://schemas.openxmlformats.org/drawingml/2006/main" noGrp="1"/>
          </p:cNvSpPr>
          <p:nvPr/>
        </p:nvSpPr>
        <p:spPr>
          <a:xfrm xmlns:a="http://schemas.openxmlformats.org/drawingml/2006/main">
            <a:off x="5505450" y="4162425"/>
            <a:ext cx="400050" cy="152400"/>
          </a:xfrm>
          <a:prstGeom xmlns:a="http://schemas.openxmlformats.org/drawingml/2006/main" prst="rightArrow">
            <a:avLst/>
          </a:prstGeom>
          <a:solidFill xmlns:a="http://schemas.openxmlformats.org/drawingml/2006/main">
            <a:srgbClr val="087F8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15559F5-7E32-45D7-AF99-946B520C5042}"/>
              </a:ext>
            </a:extLst>
          </p:cNvPr>
          <p:cNvSpPr>
            <a:spLocks xmlns:a="http://schemas.openxmlformats.org/drawingml/2006/main" noGrp="1"/>
          </p:cNvSpPr>
          <p:nvPr/>
        </p:nvSpPr>
        <p:spPr>
          <a:xfrm xmlns:a="http://schemas.openxmlformats.org/drawingml/2006/main">
            <a:off x="6381750" y="4038600"/>
            <a:ext cx="5191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102C3C"/>
                </a:solidFill>
                <a:latin typeface="Arial"/>
                <a:ea typeface="Arial"/>
                <a:cs typeface="Arial"/>
              </a:defRPr>
            </a:pPr>
            <a:r>
              <a:rPr sz="1950" b="1">
                <a:solidFill>
                  <a:srgbClr val="102C3C"/>
                </a:solidFill>
                <a:latin typeface="Arial"/>
                <a:ea typeface="Arial"/>
                <a:cs typeface="Arial"/>
              </a:rPr>
              <a:t>Heatmap + clinical contributions</a:t>
            </a:r>
          </a:p>
        </p:txBody>
      </p:sp>
      <p:sp>
        <p:nvSpPr>
          <p:cNvPr id="14" name="">
            <a:extLst xmlns:a="http://schemas.openxmlformats.org/drawingml/2006/main">
              <a:ext uri="{FF2B5EF4-FFF2-40B4-BE49-F238E27FC236}">
                <a16:creationId xmlns:a16="http://schemas.microsoft.com/office/drawing/2014/main" id="{EEF1A26A-FDBA-4536-A0C2-CC4FA3827D47}"/>
              </a:ext>
            </a:extLst>
          </p:cNvPr>
          <p:cNvSpPr>
            <a:spLocks xmlns:a="http://schemas.openxmlformats.org/drawingml/2006/main" noGrp="1"/>
          </p:cNvSpPr>
          <p:nvPr/>
        </p:nvSpPr>
        <p:spPr>
          <a:xfrm xmlns:a="http://schemas.openxmlformats.org/drawingml/2006/main">
            <a:off x="609600" y="4724400"/>
            <a:ext cx="10972800" cy="0"/>
          </a:xfrm>
          <a:prstGeom xmlns:a="http://schemas.openxmlformats.org/drawingml/2006/main" prst="line">
            <a:avLst/>
          </a:prstGeom>
          <a:noFill xmlns:a="http://schemas.openxmlformats.org/drawingml/2006/main"/>
          <a:ln xmlns:a="http://schemas.openxmlformats.org/drawingml/2006/main" w="14288">
            <a:solidFill>
              <a:srgbClr val="B9CDCF"/>
            </a:solidFill>
          </a:ln>
        </p:spPr>
      </p:sp>
      <p:sp>
        <p:nvSpPr>
          <p:cNvPr id="15" name="">
            <a:extLst xmlns:a="http://schemas.openxmlformats.org/drawingml/2006/main">
              <a:ext uri="{FF2B5EF4-FFF2-40B4-BE49-F238E27FC236}">
                <a16:creationId xmlns:a16="http://schemas.microsoft.com/office/drawing/2014/main" id="{90ED94B2-11DA-4516-9A18-4A7193424A69}"/>
              </a:ext>
            </a:extLst>
          </p:cNvPr>
          <p:cNvSpPr>
            <a:spLocks xmlns:a="http://schemas.openxmlformats.org/drawingml/2006/main" noGrp="1"/>
          </p:cNvSpPr>
          <p:nvPr/>
        </p:nvSpPr>
        <p:spPr>
          <a:xfrm xmlns:a="http://schemas.openxmlformats.org/drawingml/2006/main">
            <a:off x="609600" y="4886325"/>
            <a:ext cx="4686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02C3C"/>
                </a:solidFill>
                <a:latin typeface="Arial"/>
                <a:ea typeface="Arial"/>
                <a:cs typeface="Arial"/>
              </a:defRPr>
            </a:pPr>
            <a:r>
              <a:rPr sz="1950" b="0">
                <a:solidFill>
                  <a:srgbClr val="102C3C"/>
                </a:solidFill>
                <a:latin typeface="Arial"/>
                <a:ea typeface="Arial"/>
                <a:cs typeface="Arial"/>
              </a:rPr>
              <a:t>Report handed off separately</a:t>
            </a:r>
          </a:p>
        </p:txBody>
      </p:sp>
      <p:sp>
        <p:nvSpPr>
          <p:cNvPr id="16" name="">
            <a:extLst xmlns:a="http://schemas.openxmlformats.org/drawingml/2006/main">
              <a:ext uri="{FF2B5EF4-FFF2-40B4-BE49-F238E27FC236}">
                <a16:creationId xmlns:a16="http://schemas.microsoft.com/office/drawing/2014/main" id="{4ADC0CEA-1947-40D4-9765-80BFB4D770B2}"/>
              </a:ext>
            </a:extLst>
          </p:cNvPr>
          <p:cNvSpPr>
            <a:spLocks xmlns:a="http://schemas.openxmlformats.org/drawingml/2006/main" noGrp="1"/>
          </p:cNvSpPr>
          <p:nvPr/>
        </p:nvSpPr>
        <p:spPr>
          <a:xfrm xmlns:a="http://schemas.openxmlformats.org/drawingml/2006/main">
            <a:off x="5505450" y="5010150"/>
            <a:ext cx="400050" cy="152400"/>
          </a:xfrm>
          <a:prstGeom xmlns:a="http://schemas.openxmlformats.org/drawingml/2006/main" prst="rightArrow">
            <a:avLst/>
          </a:prstGeom>
          <a:solidFill xmlns:a="http://schemas.openxmlformats.org/drawingml/2006/main">
            <a:srgbClr val="087F8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C1E5F0D-1CF3-486C-92C3-CA050B817A3C}"/>
              </a:ext>
            </a:extLst>
          </p:cNvPr>
          <p:cNvSpPr>
            <a:spLocks xmlns:a="http://schemas.openxmlformats.org/drawingml/2006/main" noGrp="1"/>
          </p:cNvSpPr>
          <p:nvPr/>
        </p:nvSpPr>
        <p:spPr>
          <a:xfrm xmlns:a="http://schemas.openxmlformats.org/drawingml/2006/main">
            <a:off x="6381750" y="4886325"/>
            <a:ext cx="5191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102C3C"/>
                </a:solidFill>
                <a:latin typeface="Arial"/>
                <a:ea typeface="Arial"/>
                <a:cs typeface="Arial"/>
              </a:defRPr>
            </a:pPr>
            <a:r>
              <a:rPr sz="1950" b="1">
                <a:solidFill>
                  <a:srgbClr val="102C3C"/>
                </a:solidFill>
                <a:latin typeface="Arial"/>
                <a:ea typeface="Arial"/>
                <a:cs typeface="Arial"/>
              </a:rPr>
              <a:t>Doctor review → report → patient portal</a:t>
            </a:r>
          </a:p>
        </p:txBody>
      </p:sp>
      <p:sp>
        <p:nvSpPr>
          <p:cNvPr id="18" name="">
            <a:extLst xmlns:a="http://schemas.openxmlformats.org/drawingml/2006/main">
              <a:ext uri="{FF2B5EF4-FFF2-40B4-BE49-F238E27FC236}">
                <a16:creationId xmlns:a16="http://schemas.microsoft.com/office/drawing/2014/main" id="{C6E1BEE7-ACF3-4CA4-BC3B-319DB3FDA6E0}"/>
              </a:ext>
            </a:extLst>
          </p:cNvPr>
          <p:cNvSpPr>
            <a:spLocks xmlns:a="http://schemas.openxmlformats.org/drawingml/2006/main" noGrp="1"/>
          </p:cNvSpPr>
          <p:nvPr/>
        </p:nvSpPr>
        <p:spPr>
          <a:xfrm xmlns:a="http://schemas.openxmlformats.org/drawingml/2006/main">
            <a:off x="609600" y="5934075"/>
            <a:ext cx="10934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26976"/>
                </a:solidFill>
                <a:latin typeface="Arial"/>
                <a:ea typeface="Arial"/>
                <a:cs typeface="Arial"/>
              </a:defRPr>
            </a:pPr>
            <a:r>
              <a:rPr sz="1650" b="0">
                <a:solidFill>
                  <a:srgbClr val="526976"/>
                </a:solidFill>
                <a:latin typeface="Arial"/>
                <a:ea typeface="Arial"/>
                <a:cs typeface="Arial"/>
              </a:rPr>
              <a:t>The distinction is the integrated workflow, not a claim of superior clinical accuracy.</a:t>
            </a:r>
          </a:p>
        </p:txBody>
      </p:sp>
    </p:spTree>
    <p:extLst>
      <p:ext uri="{BB962C8B-B14F-4D97-AF65-F5344CB8AC3E}">
        <p14:creationId xmlns:p14="http://schemas.microsoft.com/office/powerpoint/2010/main" val="186541778"/>
      </p:ext>
    </p:extLst>
  </p:cSld>
</p:sld>
</file>

<file path=ppt/slides/slide7.xml><?xml version="1.0" encoding="utf-8"?>
<p:sld xmlns:p="http://schemas.openxmlformats.org/presentationml/2006/main">
  <p:cSld>
    <p:bg>
      <p:bgPr>
        <a:solidFill xmlns:a="http://schemas.openxmlformats.org/drawingml/2006/main">
          <a:srgbClr val="F6F9F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5123EF6-D974-4F4F-8390-197FFD4F8FFD}"/>
              </a:ext>
            </a:extLst>
          </p:cNvPr>
          <p:cNvSpPr>
            <a:spLocks xmlns:a="http://schemas.openxmlformats.org/drawingml/2006/main" noGrp="1"/>
          </p:cNvSpPr>
          <p:nvPr/>
        </p:nvSpPr>
        <p:spPr>
          <a:xfrm xmlns:a="http://schemas.openxmlformats.org/drawingml/2006/main">
            <a:off x="609600" y="428625"/>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Implementation Feasibility</a:t>
            </a:r>
          </a:p>
        </p:txBody>
      </p:sp>
      <p:sp>
        <p:nvSpPr>
          <p:cNvPr id="2" name="">
            <a:extLst xmlns:a="http://schemas.openxmlformats.org/drawingml/2006/main">
              <a:ext uri="{FF2B5EF4-FFF2-40B4-BE49-F238E27FC236}">
                <a16:creationId xmlns:a16="http://schemas.microsoft.com/office/drawing/2014/main" id="{E9E8D768-531F-4CA1-A7DD-80F68658BDFA}"/>
              </a:ext>
            </a:extLst>
          </p:cNvPr>
          <p:cNvSpPr>
            <a:spLocks xmlns:a="http://schemas.openxmlformats.org/drawingml/2006/main" noGrp="1"/>
          </p:cNvSpPr>
          <p:nvPr/>
        </p:nvSpPr>
        <p:spPr>
          <a:xfrm xmlns:a="http://schemas.openxmlformats.org/drawingml/2006/main">
            <a:off x="609600" y="64293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26976"/>
                </a:solidFill>
                <a:latin typeface="Arial"/>
                <a:ea typeface="Arial"/>
                <a:cs typeface="Arial"/>
              </a:defRPr>
            </a:pPr>
            <a:r>
              <a:rPr sz="1200" b="0">
                <a:solidFill>
                  <a:srgbClr val="526976"/>
                </a:solidFill>
                <a:latin typeface="Arial"/>
                <a:ea typeface="Arial"/>
                <a:cs typeface="Arial"/>
              </a:rPr>
              <a:t>OncoCatch  /  AuraMed</a:t>
            </a:r>
          </a:p>
        </p:txBody>
      </p:sp>
      <p:sp>
        <p:nvSpPr>
          <p:cNvPr id="3" name="">
            <a:extLst xmlns:a="http://schemas.openxmlformats.org/drawingml/2006/main">
              <a:ext uri="{FF2B5EF4-FFF2-40B4-BE49-F238E27FC236}">
                <a16:creationId xmlns:a16="http://schemas.microsoft.com/office/drawing/2014/main" id="{21BAAAD3-87E8-47C2-9B67-3D44A48C7C9B}"/>
              </a:ext>
            </a:extLst>
          </p:cNvPr>
          <p:cNvSpPr>
            <a:spLocks xmlns:a="http://schemas.openxmlformats.org/drawingml/2006/main" noGrp="1"/>
          </p:cNvSpPr>
          <p:nvPr/>
        </p:nvSpPr>
        <p:spPr>
          <a:xfrm xmlns:a="http://schemas.openxmlformats.org/drawingml/2006/main">
            <a:off x="10668000" y="642937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26976"/>
                </a:solidFill>
                <a:latin typeface="Arial"/>
                <a:ea typeface="Arial"/>
                <a:cs typeface="Arial"/>
              </a:defRPr>
            </a:pPr>
            <a:r>
              <a:rPr sz="1200" b="0">
                <a:solidFill>
                  <a:srgbClr val="526976"/>
                </a:solidFill>
                <a:latin typeface="Arial"/>
                <a:ea typeface="Arial"/>
                <a:cs typeface="Arial"/>
              </a:rPr>
              <a:t>07 / 11</a:t>
            </a:r>
          </a:p>
        </p:txBody>
      </p:sp>
      <p:sp>
        <p:nvSpPr>
          <p:cNvPr id="4" name="">
            <a:extLst xmlns:a="http://schemas.openxmlformats.org/drawingml/2006/main">
              <a:ext uri="{FF2B5EF4-FFF2-40B4-BE49-F238E27FC236}">
                <a16:creationId xmlns:a16="http://schemas.microsoft.com/office/drawing/2014/main" id="{1C7AE1AD-7916-4C1D-A86D-2AD1923A3BA1}"/>
              </a:ext>
            </a:extLst>
          </p:cNvPr>
          <p:cNvSpPr>
            <a:spLocks xmlns:a="http://schemas.openxmlformats.org/drawingml/2006/main" noGrp="1"/>
          </p:cNvSpPr>
          <p:nvPr/>
        </p:nvSpPr>
        <p:spPr>
          <a:xfrm xmlns:a="http://schemas.openxmlformats.org/drawingml/2006/main">
            <a:off x="609600" y="1752600"/>
            <a:ext cx="3371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087F83"/>
                </a:solidFill>
                <a:latin typeface="Arial"/>
                <a:ea typeface="Arial"/>
                <a:cs typeface="Arial"/>
              </a:defRPr>
            </a:pPr>
            <a:r>
              <a:rPr sz="2175" b="1">
                <a:solidFill>
                  <a:srgbClr val="087F83"/>
                </a:solidFill>
                <a:latin typeface="Arial"/>
                <a:ea typeface="Arial"/>
                <a:cs typeface="Arial"/>
              </a:rPr>
              <a:t>Local application</a:t>
            </a:r>
          </a:p>
        </p:txBody>
      </p:sp>
      <p:sp>
        <p:nvSpPr>
          <p:cNvPr id="5" name="">
            <a:extLst xmlns:a="http://schemas.openxmlformats.org/drawingml/2006/main">
              <a:ext uri="{FF2B5EF4-FFF2-40B4-BE49-F238E27FC236}">
                <a16:creationId xmlns:a16="http://schemas.microsoft.com/office/drawing/2014/main" id="{FFF72EBE-4757-4F1F-8A58-51D27F9FBD90}"/>
              </a:ext>
            </a:extLst>
          </p:cNvPr>
          <p:cNvSpPr>
            <a:spLocks xmlns:a="http://schemas.openxmlformats.org/drawingml/2006/main" noGrp="1"/>
          </p:cNvSpPr>
          <p:nvPr/>
        </p:nvSpPr>
        <p:spPr>
          <a:xfrm xmlns:a="http://schemas.openxmlformats.org/drawingml/2006/main">
            <a:off x="609600" y="2638425"/>
            <a:ext cx="3371850" cy="0"/>
          </a:xfrm>
          <a:prstGeom xmlns:a="http://schemas.openxmlformats.org/drawingml/2006/main" prst="line">
            <a:avLst/>
          </a:prstGeom>
          <a:noFill xmlns:a="http://schemas.openxmlformats.org/drawingml/2006/main"/>
          <a:ln xmlns:a="http://schemas.openxmlformats.org/drawingml/2006/main" w="14288">
            <a:solidFill>
              <a:srgbClr val="B9CDCF"/>
            </a:solidFill>
          </a:ln>
        </p:spPr>
      </p:sp>
      <p:sp>
        <p:nvSpPr>
          <p:cNvPr id="6" name="">
            <a:extLst xmlns:a="http://schemas.openxmlformats.org/drawingml/2006/main">
              <a:ext uri="{FF2B5EF4-FFF2-40B4-BE49-F238E27FC236}">
                <a16:creationId xmlns:a16="http://schemas.microsoft.com/office/drawing/2014/main" id="{B1B72165-718C-484B-ADD9-4D6470AF12DC}"/>
              </a:ext>
            </a:extLst>
          </p:cNvPr>
          <p:cNvSpPr>
            <a:spLocks xmlns:a="http://schemas.openxmlformats.org/drawingml/2006/main" noGrp="1"/>
          </p:cNvSpPr>
          <p:nvPr/>
        </p:nvSpPr>
        <p:spPr>
          <a:xfrm xmlns:a="http://schemas.openxmlformats.org/drawingml/2006/main">
            <a:off x="4410075" y="1752600"/>
            <a:ext cx="3371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087F83"/>
                </a:solidFill>
                <a:latin typeface="Arial"/>
                <a:ea typeface="Arial"/>
                <a:cs typeface="Arial"/>
              </a:defRPr>
            </a:pPr>
            <a:r>
              <a:rPr sz="2175" b="1">
                <a:solidFill>
                  <a:srgbClr val="087F83"/>
                </a:solidFill>
                <a:latin typeface="Arial"/>
                <a:ea typeface="Arial"/>
                <a:cs typeface="Arial"/>
              </a:rPr>
              <a:t>Public demonstration</a:t>
            </a:r>
          </a:p>
        </p:txBody>
      </p:sp>
      <p:sp>
        <p:nvSpPr>
          <p:cNvPr id="7" name="">
            <a:extLst xmlns:a="http://schemas.openxmlformats.org/drawingml/2006/main">
              <a:ext uri="{FF2B5EF4-FFF2-40B4-BE49-F238E27FC236}">
                <a16:creationId xmlns:a16="http://schemas.microsoft.com/office/drawing/2014/main" id="{8B5A7D55-A3EA-4B82-B4D5-12118558B852}"/>
              </a:ext>
            </a:extLst>
          </p:cNvPr>
          <p:cNvSpPr>
            <a:spLocks xmlns:a="http://schemas.openxmlformats.org/drawingml/2006/main" noGrp="1"/>
          </p:cNvSpPr>
          <p:nvPr/>
        </p:nvSpPr>
        <p:spPr>
          <a:xfrm xmlns:a="http://schemas.openxmlformats.org/drawingml/2006/main">
            <a:off x="4410075" y="2638425"/>
            <a:ext cx="3371850" cy="0"/>
          </a:xfrm>
          <a:prstGeom xmlns:a="http://schemas.openxmlformats.org/drawingml/2006/main" prst="line">
            <a:avLst/>
          </a:prstGeom>
          <a:noFill xmlns:a="http://schemas.openxmlformats.org/drawingml/2006/main"/>
          <a:ln xmlns:a="http://schemas.openxmlformats.org/drawingml/2006/main" w="14288">
            <a:solidFill>
              <a:srgbClr val="B9CDCF"/>
            </a:solidFill>
          </a:ln>
        </p:spPr>
      </p:sp>
      <p:sp>
        <p:nvSpPr>
          <p:cNvPr id="8" name="">
            <a:extLst xmlns:a="http://schemas.openxmlformats.org/drawingml/2006/main">
              <a:ext uri="{FF2B5EF4-FFF2-40B4-BE49-F238E27FC236}">
                <a16:creationId xmlns:a16="http://schemas.microsoft.com/office/drawing/2014/main" id="{C8609F80-F7B4-4255-836F-CA68CF563720}"/>
              </a:ext>
            </a:extLst>
          </p:cNvPr>
          <p:cNvSpPr>
            <a:spLocks xmlns:a="http://schemas.openxmlformats.org/drawingml/2006/main" noGrp="1"/>
          </p:cNvSpPr>
          <p:nvPr/>
        </p:nvSpPr>
        <p:spPr>
          <a:xfrm xmlns:a="http://schemas.openxmlformats.org/drawingml/2006/main">
            <a:off x="8210550" y="1752600"/>
            <a:ext cx="3371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3C"/>
                </a:solidFill>
                <a:latin typeface="Arial"/>
                <a:ea typeface="Arial"/>
                <a:cs typeface="Arial"/>
              </a:defRPr>
            </a:pPr>
            <a:r>
              <a:rPr sz="2175" b="1">
                <a:solidFill>
                  <a:srgbClr val="102C3C"/>
                </a:solidFill>
                <a:latin typeface="Arial"/>
                <a:ea typeface="Arial"/>
                <a:cs typeface="Arial"/>
              </a:rPr>
              <a:t>Production requirements</a:t>
            </a:r>
          </a:p>
        </p:txBody>
      </p:sp>
      <p:sp>
        <p:nvSpPr>
          <p:cNvPr id="9" name="">
            <a:extLst xmlns:a="http://schemas.openxmlformats.org/drawingml/2006/main">
              <a:ext uri="{FF2B5EF4-FFF2-40B4-BE49-F238E27FC236}">
                <a16:creationId xmlns:a16="http://schemas.microsoft.com/office/drawing/2014/main" id="{CE88F380-CE60-4210-8B08-79E376078567}"/>
              </a:ext>
            </a:extLst>
          </p:cNvPr>
          <p:cNvSpPr>
            <a:spLocks xmlns:a="http://schemas.openxmlformats.org/drawingml/2006/main" noGrp="1"/>
          </p:cNvSpPr>
          <p:nvPr/>
        </p:nvSpPr>
        <p:spPr>
          <a:xfrm xmlns:a="http://schemas.openxmlformats.org/drawingml/2006/main">
            <a:off x="8210550" y="2638425"/>
            <a:ext cx="3371850" cy="0"/>
          </a:xfrm>
          <a:prstGeom xmlns:a="http://schemas.openxmlformats.org/drawingml/2006/main" prst="line">
            <a:avLst/>
          </a:prstGeom>
          <a:noFill xmlns:a="http://schemas.openxmlformats.org/drawingml/2006/main"/>
          <a:ln xmlns:a="http://schemas.openxmlformats.org/drawingml/2006/main" w="14288">
            <a:solidFill>
              <a:srgbClr val="B9CDCF"/>
            </a:solidFill>
          </a:ln>
        </p:spPr>
      </p:sp>
      <p:sp>
        <p:nvSpPr>
          <p:cNvPr id="10" name="">
            <a:extLst xmlns:a="http://schemas.openxmlformats.org/drawingml/2006/main">
              <a:ext uri="{FF2B5EF4-FFF2-40B4-BE49-F238E27FC236}">
                <a16:creationId xmlns:a16="http://schemas.microsoft.com/office/drawing/2014/main" id="{4DCDAD88-8C81-4121-B154-32359AE5BF0D}"/>
              </a:ext>
            </a:extLst>
          </p:cNvPr>
          <p:cNvSpPr>
            <a:spLocks xmlns:a="http://schemas.openxmlformats.org/drawingml/2006/main" noGrp="1"/>
          </p:cNvSpPr>
          <p:nvPr/>
        </p:nvSpPr>
        <p:spPr>
          <a:xfrm xmlns:a="http://schemas.openxmlformats.org/drawingml/2006/main">
            <a:off x="609600" y="2952750"/>
            <a:ext cx="337185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02C3C"/>
                </a:solidFill>
                <a:latin typeface="Arial"/>
                <a:ea typeface="Arial"/>
                <a:cs typeface="Arial"/>
              </a:defRPr>
            </a:pPr>
            <a:r>
              <a:rPr sz="1875" b="0">
                <a:solidFill>
                  <a:srgbClr val="102C3C"/>
                </a:solidFill>
                <a:latin typeface="Arial"/>
                <a:ea typeface="Arial"/>
                <a:cs typeface="Arial"/>
              </a:rPr>
              <a:t>Trained model inference</a:t>
            </a:r>
          </a:p>
          <a:p xmlns:a="http://schemas.openxmlformats.org/drawingml/2006/main">
            <a:pPr>
              <a:defRPr sz="1875" b="0">
                <a:solidFill>
                  <a:srgbClr val="102C3C"/>
                </a:solidFill>
                <a:latin typeface="Arial"/>
                <a:ea typeface="Arial"/>
                <a:cs typeface="Arial"/>
              </a:defRPr>
            </a:pPr>
            <a:r>
              <a:rPr sz="1875" b="0">
                <a:solidFill>
                  <a:srgbClr val="102C3C"/>
                </a:solidFill>
                <a:latin typeface="Arial"/>
                <a:ea typeface="Arial"/>
                <a:cs typeface="Arial"/>
              </a:rPr>
              <a:t>Image + clinical assessment</a:t>
            </a:r>
          </a:p>
          <a:p xmlns:a="http://schemas.openxmlformats.org/drawingml/2006/main">
            <a:pPr>
              <a:defRPr sz="1875" b="0">
                <a:solidFill>
                  <a:srgbClr val="102C3C"/>
                </a:solidFill>
                <a:latin typeface="Arial"/>
                <a:ea typeface="Arial"/>
                <a:cs typeface="Arial"/>
              </a:defRPr>
            </a:pPr>
            <a:r>
              <a:rPr sz="1875" b="0">
                <a:solidFill>
                  <a:srgbClr val="102C3C"/>
                </a:solidFill>
                <a:latin typeface="Arial"/>
                <a:ea typeface="Arial"/>
                <a:cs typeface="Arial"/>
              </a:rPr>
              <a:t>Report review and PDF export</a:t>
            </a:r>
          </a:p>
          <a:p xmlns:a="http://schemas.openxmlformats.org/drawingml/2006/main">
            <a:pPr>
              <a:defRPr sz="1875" b="0">
                <a:solidFill>
                  <a:srgbClr val="102C3C"/>
                </a:solidFill>
                <a:latin typeface="Arial"/>
                <a:ea typeface="Arial"/>
                <a:cs typeface="Arial"/>
              </a:defRPr>
            </a:pPr>
            <a:r>
              <a:rPr sz="1875" b="0">
                <a:solidFill>
                  <a:srgbClr val="102C3C"/>
                </a:solidFill>
                <a:latin typeface="Arial"/>
                <a:ea typeface="Arial"/>
                <a:cs typeface="Arial"/>
              </a:rPr>
              <a:t>Patient and admin portals</a:t>
            </a:r>
          </a:p>
        </p:txBody>
      </p:sp>
      <p:sp>
        <p:nvSpPr>
          <p:cNvPr id="11" name="">
            <a:extLst xmlns:a="http://schemas.openxmlformats.org/drawingml/2006/main">
              <a:ext uri="{FF2B5EF4-FFF2-40B4-BE49-F238E27FC236}">
                <a16:creationId xmlns:a16="http://schemas.microsoft.com/office/drawing/2014/main" id="{9E81655A-40C2-4993-87C1-0D92C0634818}"/>
              </a:ext>
            </a:extLst>
          </p:cNvPr>
          <p:cNvSpPr>
            <a:spLocks xmlns:a="http://schemas.openxmlformats.org/drawingml/2006/main" noGrp="1"/>
          </p:cNvSpPr>
          <p:nvPr/>
        </p:nvSpPr>
        <p:spPr>
          <a:xfrm xmlns:a="http://schemas.openxmlformats.org/drawingml/2006/main">
            <a:off x="4410075" y="2952750"/>
            <a:ext cx="337185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02C3C"/>
                </a:solidFill>
                <a:latin typeface="Arial"/>
                <a:ea typeface="Arial"/>
                <a:cs typeface="Arial"/>
              </a:defRPr>
            </a:pPr>
            <a:r>
              <a:rPr sz="1875" b="0">
                <a:solidFill>
                  <a:srgbClr val="102C3C"/>
                </a:solidFill>
                <a:latin typeface="Arial"/>
                <a:ea typeface="Arial"/>
                <a:cs typeface="Arial"/>
              </a:rPr>
              <a:t>Nine saved examples</a:t>
            </a:r>
          </a:p>
          <a:p xmlns:a="http://schemas.openxmlformats.org/drawingml/2006/main">
            <a:pPr>
              <a:defRPr sz="1875" b="0">
                <a:solidFill>
                  <a:srgbClr val="102C3C"/>
                </a:solidFill>
                <a:latin typeface="Arial"/>
                <a:ea typeface="Arial"/>
                <a:cs typeface="Arial"/>
              </a:defRPr>
            </a:pPr>
            <a:r>
              <a:rPr sz="1875" b="0">
                <a:solidFill>
                  <a:srgbClr val="102C3C"/>
                </a:solidFill>
                <a:latin typeface="Arial"/>
                <a:ea typeface="Arial"/>
                <a:cs typeface="Arial"/>
              </a:rPr>
              <a:t>Matching sample heatmaps</a:t>
            </a:r>
          </a:p>
          <a:p xmlns:a="http://schemas.openxmlformats.org/drawingml/2006/main">
            <a:pPr>
              <a:defRPr sz="1875" b="0">
                <a:solidFill>
                  <a:srgbClr val="102C3C"/>
                </a:solidFill>
                <a:latin typeface="Arial"/>
                <a:ea typeface="Arial"/>
                <a:cs typeface="Arial"/>
              </a:defRPr>
            </a:pPr>
            <a:r>
              <a:rPr sz="1875" b="0">
                <a:solidFill>
                  <a:srgbClr val="102C3C"/>
                </a:solidFill>
                <a:latin typeface="Arial"/>
                <a:ea typeface="Arial"/>
                <a:cs typeface="Arial"/>
              </a:rPr>
              <a:t>Downloadable sample PDFs</a:t>
            </a:r>
          </a:p>
          <a:p xmlns:a="http://schemas.openxmlformats.org/drawingml/2006/main">
            <a:pPr>
              <a:defRPr sz="1875" b="0">
                <a:solidFill>
                  <a:srgbClr val="102C3C"/>
                </a:solidFill>
                <a:latin typeface="Arial"/>
                <a:ea typeface="Arial"/>
                <a:cs typeface="Arial"/>
              </a:defRPr>
            </a:pPr>
            <a:r>
              <a:rPr sz="1875" b="0">
                <a:solidFill>
                  <a:srgbClr val="102C3C"/>
                </a:solidFill>
                <a:latin typeface="Arial"/>
                <a:ea typeface="Arial"/>
                <a:cs typeface="Arial"/>
              </a:rPr>
              <a:t>Simulated signing / sharing</a:t>
            </a:r>
          </a:p>
        </p:txBody>
      </p:sp>
      <p:sp>
        <p:nvSpPr>
          <p:cNvPr id="12" name="">
            <a:extLst xmlns:a="http://schemas.openxmlformats.org/drawingml/2006/main">
              <a:ext uri="{FF2B5EF4-FFF2-40B4-BE49-F238E27FC236}">
                <a16:creationId xmlns:a16="http://schemas.microsoft.com/office/drawing/2014/main" id="{504CC7CD-3D96-4AF6-A609-673384C676B5}"/>
              </a:ext>
            </a:extLst>
          </p:cNvPr>
          <p:cNvSpPr>
            <a:spLocks xmlns:a="http://schemas.openxmlformats.org/drawingml/2006/main" noGrp="1"/>
          </p:cNvSpPr>
          <p:nvPr/>
        </p:nvSpPr>
        <p:spPr>
          <a:xfrm xmlns:a="http://schemas.openxmlformats.org/drawingml/2006/main">
            <a:off x="8210550" y="2952750"/>
            <a:ext cx="337185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02C3C"/>
                </a:solidFill>
                <a:latin typeface="Arial"/>
                <a:ea typeface="Arial"/>
                <a:cs typeface="Arial"/>
              </a:defRPr>
            </a:pPr>
            <a:r>
              <a:rPr sz="1875" b="0">
                <a:solidFill>
                  <a:srgbClr val="102C3C"/>
                </a:solidFill>
                <a:latin typeface="Arial"/>
                <a:ea typeface="Arial"/>
                <a:cs typeface="Arial"/>
              </a:rPr>
              <a:t>External clinical validation</a:t>
            </a:r>
          </a:p>
          <a:p xmlns:a="http://schemas.openxmlformats.org/drawingml/2006/main">
            <a:pPr>
              <a:defRPr sz="1875" b="0">
                <a:solidFill>
                  <a:srgbClr val="102C3C"/>
                </a:solidFill>
                <a:latin typeface="Arial"/>
                <a:ea typeface="Arial"/>
                <a:cs typeface="Arial"/>
              </a:defRPr>
            </a:pPr>
            <a:r>
              <a:rPr sz="1875" b="0">
                <a:solidFill>
                  <a:srgbClr val="102C3C"/>
                </a:solidFill>
                <a:latin typeface="Arial"/>
                <a:ea typeface="Arial"/>
                <a:cs typeface="Arial"/>
              </a:rPr>
              <a:t>Protected data and access</a:t>
            </a:r>
          </a:p>
          <a:p xmlns:a="http://schemas.openxmlformats.org/drawingml/2006/main">
            <a:pPr>
              <a:defRPr sz="1875" b="0">
                <a:solidFill>
                  <a:srgbClr val="102C3C"/>
                </a:solidFill>
                <a:latin typeface="Arial"/>
                <a:ea typeface="Arial"/>
                <a:cs typeface="Arial"/>
              </a:defRPr>
            </a:pPr>
            <a:r>
              <a:rPr sz="1875" b="0">
                <a:solidFill>
                  <a:srgbClr val="102C3C"/>
                </a:solidFill>
                <a:latin typeface="Arial"/>
                <a:ea typeface="Arial"/>
                <a:cs typeface="Arial"/>
              </a:rPr>
              <a:t>Reliable model hosting</a:t>
            </a:r>
          </a:p>
          <a:p xmlns:a="http://schemas.openxmlformats.org/drawingml/2006/main">
            <a:pPr>
              <a:defRPr sz="1875" b="0">
                <a:solidFill>
                  <a:srgbClr val="102C3C"/>
                </a:solidFill>
                <a:latin typeface="Arial"/>
                <a:ea typeface="Arial"/>
                <a:cs typeface="Arial"/>
              </a:defRPr>
            </a:pPr>
            <a:r>
              <a:rPr sz="1875" b="0">
                <a:solidFill>
                  <a:srgbClr val="102C3C"/>
                </a:solidFill>
                <a:latin typeface="Arial"/>
                <a:ea typeface="Arial"/>
                <a:cs typeface="Arial"/>
              </a:rPr>
              <a:t>Monitoring and pilot approval</a:t>
            </a:r>
          </a:p>
        </p:txBody>
      </p:sp>
      <p:sp>
        <p:nvSpPr>
          <p:cNvPr id="13" name="">
            <a:extLst xmlns:a="http://schemas.openxmlformats.org/drawingml/2006/main">
              <a:ext uri="{FF2B5EF4-FFF2-40B4-BE49-F238E27FC236}">
                <a16:creationId xmlns:a16="http://schemas.microsoft.com/office/drawing/2014/main" id="{193D91E9-3E40-42E7-9148-A424A474EC4B}"/>
              </a:ext>
            </a:extLst>
          </p:cNvPr>
          <p:cNvSpPr>
            <a:spLocks xmlns:a="http://schemas.openxmlformats.org/drawingml/2006/main" noGrp="1"/>
          </p:cNvSpPr>
          <p:nvPr/>
        </p:nvSpPr>
        <p:spPr>
          <a:xfrm xmlns:a="http://schemas.openxmlformats.org/drawingml/2006/main">
            <a:off x="609600" y="5334000"/>
            <a:ext cx="10972800" cy="0"/>
          </a:xfrm>
          <a:prstGeom xmlns:a="http://schemas.openxmlformats.org/drawingml/2006/main" prst="line">
            <a:avLst/>
          </a:prstGeom>
          <a:noFill xmlns:a="http://schemas.openxmlformats.org/drawingml/2006/main"/>
          <a:ln xmlns:a="http://schemas.openxmlformats.org/drawingml/2006/main" w="14288">
            <a:solidFill>
              <a:srgbClr val="B9CDCF"/>
            </a:solidFill>
          </a:ln>
        </p:spPr>
      </p:sp>
      <p:sp>
        <p:nvSpPr>
          <p:cNvPr id="14" name="">
            <a:extLst xmlns:a="http://schemas.openxmlformats.org/drawingml/2006/main">
              <a:ext uri="{FF2B5EF4-FFF2-40B4-BE49-F238E27FC236}">
                <a16:creationId xmlns:a16="http://schemas.microsoft.com/office/drawing/2014/main" id="{F0E64FDC-3B78-457C-B504-0F9EEA7BE8F0}"/>
              </a:ext>
            </a:extLst>
          </p:cNvPr>
          <p:cNvSpPr>
            <a:spLocks xmlns:a="http://schemas.openxmlformats.org/drawingml/2006/main" noGrp="1"/>
          </p:cNvSpPr>
          <p:nvPr/>
        </p:nvSpPr>
        <p:spPr>
          <a:xfrm xmlns:a="http://schemas.openxmlformats.org/drawingml/2006/main">
            <a:off x="609600" y="5600700"/>
            <a:ext cx="2524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087F83"/>
                </a:solidFill>
                <a:latin typeface="Arial"/>
                <a:ea typeface="Arial"/>
                <a:cs typeface="Arial"/>
              </a:defRPr>
            </a:pPr>
            <a:r>
              <a:rPr sz="1875" b="1">
                <a:solidFill>
                  <a:srgbClr val="087F83"/>
                </a:solidFill>
                <a:latin typeface="Arial"/>
                <a:ea typeface="Arial"/>
                <a:cs typeface="Arial"/>
              </a:rPr>
              <a:t>Current boundary</a:t>
            </a:r>
          </a:p>
        </p:txBody>
      </p:sp>
      <p:sp>
        <p:nvSpPr>
          <p:cNvPr id="15" name="">
            <a:extLst xmlns:a="http://schemas.openxmlformats.org/drawingml/2006/main">
              <a:ext uri="{FF2B5EF4-FFF2-40B4-BE49-F238E27FC236}">
                <a16:creationId xmlns:a16="http://schemas.microsoft.com/office/drawing/2014/main" id="{3897F409-5A30-4110-9BE2-C2B7DFABD800}"/>
              </a:ext>
            </a:extLst>
          </p:cNvPr>
          <p:cNvSpPr>
            <a:spLocks xmlns:a="http://schemas.openxmlformats.org/drawingml/2006/main" noGrp="1"/>
          </p:cNvSpPr>
          <p:nvPr/>
        </p:nvSpPr>
        <p:spPr>
          <a:xfrm xmlns:a="http://schemas.openxmlformats.org/drawingml/2006/main">
            <a:off x="3333750" y="5562600"/>
            <a:ext cx="82105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102C3C"/>
                </a:solidFill>
                <a:latin typeface="Arial"/>
                <a:ea typeface="Arial"/>
                <a:cs typeface="Arial"/>
              </a:defRPr>
            </a:pPr>
            <a:r>
              <a:rPr sz="1800" b="0">
                <a:solidFill>
                  <a:srgbClr val="102C3C"/>
                </a:solidFill>
                <a:latin typeface="Arial"/>
                <a:ea typeface="Arial"/>
                <a:cs typeface="Arial"/>
              </a:rPr>
              <a:t>Prototype decision support. No clinical accuracy, regulatory approval</a:t>
            </a:r>
          </a:p>
          <a:p xmlns:a="http://schemas.openxmlformats.org/drawingml/2006/main">
            <a:pPr>
              <a:defRPr sz="1800" b="0">
                <a:solidFill>
                  <a:srgbClr val="102C3C"/>
                </a:solidFill>
                <a:latin typeface="Arial"/>
                <a:ea typeface="Arial"/>
                <a:cs typeface="Arial"/>
              </a:defRPr>
            </a:pPr>
            <a:r>
              <a:rPr sz="1800" b="0">
                <a:solidFill>
                  <a:srgbClr val="102C3C"/>
                </a:solidFill>
                <a:latin typeface="Arial"/>
                <a:ea typeface="Arial"/>
                <a:cs typeface="Arial"/>
              </a:rPr>
              <a:t>or real-world outcome claims are established by this demo.</a:t>
            </a:r>
          </a:p>
        </p:txBody>
      </p:sp>
    </p:spTree>
    <p:extLst>
      <p:ext uri="{BB962C8B-B14F-4D97-AF65-F5344CB8AC3E}">
        <p14:creationId xmlns:p14="http://schemas.microsoft.com/office/powerpoint/2010/main" val="1851398733"/>
      </p:ext>
    </p:extLst>
  </p:cSld>
</p:sld>
</file>

<file path=ppt/slides/slide8.xml><?xml version="1.0" encoding="utf-8"?>
<p:sld xmlns:p="http://schemas.openxmlformats.org/presentationml/2006/main">
  <p:cSld>
    <p:bg>
      <p:bgPr>
        <a:solidFill xmlns:a="http://schemas.openxmlformats.org/drawingml/2006/main">
          <a:srgbClr val="F6F9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724B71A-7656-4B99-8229-519AD67E1C2C}"/>
              </a:ext>
            </a:extLst>
          </p:cNvPr>
          <p:cNvSpPr>
            <a:spLocks xmlns:a="http://schemas.openxmlformats.org/drawingml/2006/main" noGrp="1"/>
          </p:cNvSpPr>
          <p:nvPr/>
        </p:nvSpPr>
        <p:spPr>
          <a:xfrm xmlns:a="http://schemas.openxmlformats.org/drawingml/2006/main">
            <a:off x="609600" y="428625"/>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Impact &amp; Scalability</a:t>
            </a:r>
          </a:p>
        </p:txBody>
      </p:sp>
      <p:sp>
        <p:nvSpPr>
          <p:cNvPr id="2" name="">
            <a:extLst xmlns:a="http://schemas.openxmlformats.org/drawingml/2006/main">
              <a:ext uri="{FF2B5EF4-FFF2-40B4-BE49-F238E27FC236}">
                <a16:creationId xmlns:a16="http://schemas.microsoft.com/office/drawing/2014/main" id="{9B5C79C5-40E4-4825-8511-05BDCB4292B5}"/>
              </a:ext>
            </a:extLst>
          </p:cNvPr>
          <p:cNvSpPr>
            <a:spLocks xmlns:a="http://schemas.openxmlformats.org/drawingml/2006/main" noGrp="1"/>
          </p:cNvSpPr>
          <p:nvPr/>
        </p:nvSpPr>
        <p:spPr>
          <a:xfrm xmlns:a="http://schemas.openxmlformats.org/drawingml/2006/main">
            <a:off x="609600" y="64293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26976"/>
                </a:solidFill>
                <a:latin typeface="Arial"/>
                <a:ea typeface="Arial"/>
                <a:cs typeface="Arial"/>
              </a:defRPr>
            </a:pPr>
            <a:r>
              <a:rPr sz="1200" b="0">
                <a:solidFill>
                  <a:srgbClr val="526976"/>
                </a:solidFill>
                <a:latin typeface="Arial"/>
                <a:ea typeface="Arial"/>
                <a:cs typeface="Arial"/>
              </a:rPr>
              <a:t>OncoCatch  /  AuraMed</a:t>
            </a:r>
          </a:p>
        </p:txBody>
      </p:sp>
      <p:sp>
        <p:nvSpPr>
          <p:cNvPr id="3" name="">
            <a:extLst xmlns:a="http://schemas.openxmlformats.org/drawingml/2006/main">
              <a:ext uri="{FF2B5EF4-FFF2-40B4-BE49-F238E27FC236}">
                <a16:creationId xmlns:a16="http://schemas.microsoft.com/office/drawing/2014/main" id="{764B24BD-B988-43DD-B8DC-872BCE46D323}"/>
              </a:ext>
            </a:extLst>
          </p:cNvPr>
          <p:cNvSpPr>
            <a:spLocks xmlns:a="http://schemas.openxmlformats.org/drawingml/2006/main" noGrp="1"/>
          </p:cNvSpPr>
          <p:nvPr/>
        </p:nvSpPr>
        <p:spPr>
          <a:xfrm xmlns:a="http://schemas.openxmlformats.org/drawingml/2006/main">
            <a:off x="10668000" y="642937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26976"/>
                </a:solidFill>
                <a:latin typeface="Arial"/>
                <a:ea typeface="Arial"/>
                <a:cs typeface="Arial"/>
              </a:defRPr>
            </a:pPr>
            <a:r>
              <a:rPr sz="1200" b="0">
                <a:solidFill>
                  <a:srgbClr val="526976"/>
                </a:solidFill>
                <a:latin typeface="Arial"/>
                <a:ea typeface="Arial"/>
                <a:cs typeface="Arial"/>
              </a:rPr>
              <a:t>08 / 11</a:t>
            </a:r>
          </a:p>
        </p:txBody>
      </p:sp>
      <p:sp>
        <p:nvSpPr>
          <p:cNvPr id="4" name="">
            <a:extLst xmlns:a="http://schemas.openxmlformats.org/drawingml/2006/main">
              <a:ext uri="{FF2B5EF4-FFF2-40B4-BE49-F238E27FC236}">
                <a16:creationId xmlns:a16="http://schemas.microsoft.com/office/drawing/2014/main" id="{FA693830-730F-4DF2-8A15-219E6DFA01C9}"/>
              </a:ext>
            </a:extLst>
          </p:cNvPr>
          <p:cNvSpPr>
            <a:spLocks xmlns:a="http://schemas.openxmlformats.org/drawingml/2006/main" noGrp="1"/>
          </p:cNvSpPr>
          <p:nvPr/>
        </p:nvSpPr>
        <p:spPr>
          <a:xfrm xmlns:a="http://schemas.openxmlformats.org/drawingml/2006/main">
            <a:off x="609600" y="1381125"/>
            <a:ext cx="1093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26976"/>
                </a:solidFill>
                <a:latin typeface="Arial"/>
                <a:ea typeface="Arial"/>
                <a:cs typeface="Arial"/>
              </a:defRPr>
            </a:pPr>
            <a:r>
              <a:rPr sz="1950" b="0">
                <a:solidFill>
                  <a:srgbClr val="526976"/>
                </a:solidFill>
                <a:latin typeface="Arial"/>
                <a:ea typeface="Arial"/>
                <a:cs typeface="Arial"/>
              </a:rPr>
              <a:t>Illustrative capacity scenario — not current adoption</a:t>
            </a:r>
          </a:p>
        </p:txBody>
      </p:sp>
      <p:sp>
        <p:nvSpPr>
          <p:cNvPr id="5" name="">
            <a:extLst xmlns:a="http://schemas.openxmlformats.org/drawingml/2006/main">
              <a:ext uri="{FF2B5EF4-FFF2-40B4-BE49-F238E27FC236}">
                <a16:creationId xmlns:a16="http://schemas.microsoft.com/office/drawing/2014/main" id="{BEAA1A0C-ADDE-4300-8DB2-9B3A6B5BB7BE}"/>
              </a:ext>
            </a:extLst>
          </p:cNvPr>
          <p:cNvSpPr>
            <a:spLocks xmlns:a="http://schemas.openxmlformats.org/drawingml/2006/main" noGrp="1"/>
          </p:cNvSpPr>
          <p:nvPr/>
        </p:nvSpPr>
        <p:spPr>
          <a:xfrm xmlns:a="http://schemas.openxmlformats.org/drawingml/2006/main">
            <a:off x="609600" y="221932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6000" b="1">
                <a:solidFill>
                  <a:srgbClr val="087F83"/>
                </a:solidFill>
                <a:latin typeface="Arial"/>
                <a:ea typeface="Arial"/>
                <a:cs typeface="Arial"/>
              </a:defRPr>
            </a:pPr>
            <a:r>
              <a:rPr sz="6000" b="1">
                <a:solidFill>
                  <a:srgbClr val="087F83"/>
                </a:solidFill>
                <a:latin typeface="Arial"/>
                <a:ea typeface="Arial"/>
                <a:cs typeface="Arial"/>
              </a:rPr>
              <a:t>5</a:t>
            </a:r>
          </a:p>
        </p:txBody>
      </p:sp>
      <p:sp>
        <p:nvSpPr>
          <p:cNvPr id="6" name="">
            <a:extLst xmlns:a="http://schemas.openxmlformats.org/drawingml/2006/main">
              <a:ext uri="{FF2B5EF4-FFF2-40B4-BE49-F238E27FC236}">
                <a16:creationId xmlns:a16="http://schemas.microsoft.com/office/drawing/2014/main" id="{E861AA15-B848-4A33-AD60-E745546AC52C}"/>
              </a:ext>
            </a:extLst>
          </p:cNvPr>
          <p:cNvSpPr>
            <a:spLocks xmlns:a="http://schemas.openxmlformats.org/drawingml/2006/main" noGrp="1"/>
          </p:cNvSpPr>
          <p:nvPr/>
        </p:nvSpPr>
        <p:spPr>
          <a:xfrm xmlns:a="http://schemas.openxmlformats.org/drawingml/2006/main">
            <a:off x="609600" y="333375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102C3C"/>
                </a:solidFill>
                <a:latin typeface="Arial"/>
                <a:ea typeface="Arial"/>
                <a:cs typeface="Arial"/>
              </a:defRPr>
            </a:pPr>
            <a:r>
              <a:rPr sz="1800" b="0">
                <a:solidFill>
                  <a:srgbClr val="102C3C"/>
                </a:solidFill>
                <a:latin typeface="Arial"/>
                <a:ea typeface="Arial"/>
                <a:cs typeface="Arial"/>
              </a:rPr>
              <a:t>participating clinics</a:t>
            </a:r>
          </a:p>
        </p:txBody>
      </p:sp>
      <p:sp>
        <p:nvSpPr>
          <p:cNvPr id="7" name="">
            <a:extLst xmlns:a="http://schemas.openxmlformats.org/drawingml/2006/main">
              <a:ext uri="{FF2B5EF4-FFF2-40B4-BE49-F238E27FC236}">
                <a16:creationId xmlns:a16="http://schemas.microsoft.com/office/drawing/2014/main" id="{9905DE6F-54B7-4296-B483-FF50AA71DA5C}"/>
              </a:ext>
            </a:extLst>
          </p:cNvPr>
          <p:cNvSpPr>
            <a:spLocks xmlns:a="http://schemas.openxmlformats.org/drawingml/2006/main" noGrp="1"/>
          </p:cNvSpPr>
          <p:nvPr/>
        </p:nvSpPr>
        <p:spPr>
          <a:xfrm xmlns:a="http://schemas.openxmlformats.org/drawingml/2006/main">
            <a:off x="2895600" y="2438400"/>
            <a:ext cx="47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0">
                <a:solidFill>
                  <a:srgbClr val="526976"/>
                </a:solidFill>
                <a:latin typeface="Arial"/>
                <a:ea typeface="Arial"/>
                <a:cs typeface="Arial"/>
              </a:defRPr>
            </a:pPr>
            <a:r>
              <a:rPr sz="3450" b="0">
                <a:solidFill>
                  <a:srgbClr val="526976"/>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C49456D9-43D7-4742-8DCB-BEB83FEF0C44}"/>
              </a:ext>
            </a:extLst>
          </p:cNvPr>
          <p:cNvSpPr>
            <a:spLocks xmlns:a="http://schemas.openxmlformats.org/drawingml/2006/main" noGrp="1"/>
          </p:cNvSpPr>
          <p:nvPr/>
        </p:nvSpPr>
        <p:spPr>
          <a:xfrm xmlns:a="http://schemas.openxmlformats.org/drawingml/2006/main">
            <a:off x="3543300" y="221932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6000" b="1">
                <a:solidFill>
                  <a:srgbClr val="087F83"/>
                </a:solidFill>
                <a:latin typeface="Arial"/>
                <a:ea typeface="Arial"/>
                <a:cs typeface="Arial"/>
              </a:defRPr>
            </a:pPr>
            <a:r>
              <a:rPr sz="6000" b="1">
                <a:solidFill>
                  <a:srgbClr val="087F83"/>
                </a:solidFill>
                <a:latin typeface="Arial"/>
                <a:ea typeface="Arial"/>
                <a:cs typeface="Arial"/>
              </a:rPr>
              <a:t>10</a:t>
            </a:r>
          </a:p>
        </p:txBody>
      </p:sp>
      <p:sp>
        <p:nvSpPr>
          <p:cNvPr id="9" name="">
            <a:extLst xmlns:a="http://schemas.openxmlformats.org/drawingml/2006/main">
              <a:ext uri="{FF2B5EF4-FFF2-40B4-BE49-F238E27FC236}">
                <a16:creationId xmlns:a16="http://schemas.microsoft.com/office/drawing/2014/main" id="{8A206C5F-6DED-4282-AA1A-FDEAC9F771BA}"/>
              </a:ext>
            </a:extLst>
          </p:cNvPr>
          <p:cNvSpPr>
            <a:spLocks xmlns:a="http://schemas.openxmlformats.org/drawingml/2006/main" noGrp="1"/>
          </p:cNvSpPr>
          <p:nvPr/>
        </p:nvSpPr>
        <p:spPr>
          <a:xfrm xmlns:a="http://schemas.openxmlformats.org/drawingml/2006/main">
            <a:off x="3543300" y="333375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102C3C"/>
                </a:solidFill>
                <a:latin typeface="Arial"/>
                <a:ea typeface="Arial"/>
                <a:cs typeface="Arial"/>
              </a:defRPr>
            </a:pPr>
            <a:r>
              <a:rPr sz="1800" b="0">
                <a:solidFill>
                  <a:srgbClr val="102C3C"/>
                </a:solidFill>
                <a:latin typeface="Arial"/>
                <a:ea typeface="Arial"/>
                <a:cs typeface="Arial"/>
              </a:rPr>
              <a:t>examinations / clinic / day</a:t>
            </a:r>
          </a:p>
        </p:txBody>
      </p:sp>
      <p:sp>
        <p:nvSpPr>
          <p:cNvPr id="10" name="">
            <a:extLst xmlns:a="http://schemas.openxmlformats.org/drawingml/2006/main">
              <a:ext uri="{FF2B5EF4-FFF2-40B4-BE49-F238E27FC236}">
                <a16:creationId xmlns:a16="http://schemas.microsoft.com/office/drawing/2014/main" id="{0BB8A1EB-9D32-45D5-A549-68DA9AF839B0}"/>
              </a:ext>
            </a:extLst>
          </p:cNvPr>
          <p:cNvSpPr>
            <a:spLocks xmlns:a="http://schemas.openxmlformats.org/drawingml/2006/main" noGrp="1"/>
          </p:cNvSpPr>
          <p:nvPr/>
        </p:nvSpPr>
        <p:spPr>
          <a:xfrm xmlns:a="http://schemas.openxmlformats.org/drawingml/2006/main">
            <a:off x="5829300" y="2438400"/>
            <a:ext cx="47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0">
                <a:solidFill>
                  <a:srgbClr val="526976"/>
                </a:solidFill>
                <a:latin typeface="Arial"/>
                <a:ea typeface="Arial"/>
                <a:cs typeface="Arial"/>
              </a:defRPr>
            </a:pPr>
            <a:r>
              <a:rPr sz="3450" b="0">
                <a:solidFill>
                  <a:srgbClr val="526976"/>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F29292E1-8F31-4D42-A1A2-05EA52FCF46C}"/>
              </a:ext>
            </a:extLst>
          </p:cNvPr>
          <p:cNvSpPr>
            <a:spLocks xmlns:a="http://schemas.openxmlformats.org/drawingml/2006/main" noGrp="1"/>
          </p:cNvSpPr>
          <p:nvPr/>
        </p:nvSpPr>
        <p:spPr>
          <a:xfrm xmlns:a="http://schemas.openxmlformats.org/drawingml/2006/main">
            <a:off x="6477000" y="221932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6000" b="1">
                <a:solidFill>
                  <a:srgbClr val="087F83"/>
                </a:solidFill>
                <a:latin typeface="Arial"/>
                <a:ea typeface="Arial"/>
                <a:cs typeface="Arial"/>
              </a:defRPr>
            </a:pPr>
            <a:r>
              <a:rPr sz="6000" b="1">
                <a:solidFill>
                  <a:srgbClr val="087F83"/>
                </a:solidFill>
                <a:latin typeface="Arial"/>
                <a:ea typeface="Arial"/>
                <a:cs typeface="Arial"/>
              </a:rPr>
              <a:t>20</a:t>
            </a:r>
          </a:p>
        </p:txBody>
      </p:sp>
      <p:sp>
        <p:nvSpPr>
          <p:cNvPr id="12" name="">
            <a:extLst xmlns:a="http://schemas.openxmlformats.org/drawingml/2006/main">
              <a:ext uri="{FF2B5EF4-FFF2-40B4-BE49-F238E27FC236}">
                <a16:creationId xmlns:a16="http://schemas.microsoft.com/office/drawing/2014/main" id="{9A7AF237-9809-4A51-BF5B-78A2A80DA9FC}"/>
              </a:ext>
            </a:extLst>
          </p:cNvPr>
          <p:cNvSpPr>
            <a:spLocks xmlns:a="http://schemas.openxmlformats.org/drawingml/2006/main" noGrp="1"/>
          </p:cNvSpPr>
          <p:nvPr/>
        </p:nvSpPr>
        <p:spPr>
          <a:xfrm xmlns:a="http://schemas.openxmlformats.org/drawingml/2006/main">
            <a:off x="6477000" y="333375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102C3C"/>
                </a:solidFill>
                <a:latin typeface="Arial"/>
                <a:ea typeface="Arial"/>
                <a:cs typeface="Arial"/>
              </a:defRPr>
            </a:pPr>
            <a:r>
              <a:rPr sz="1800" b="0">
                <a:solidFill>
                  <a:srgbClr val="102C3C"/>
                </a:solidFill>
                <a:latin typeface="Arial"/>
                <a:ea typeface="Arial"/>
                <a:cs typeface="Arial"/>
              </a:rPr>
              <a:t>working days / month</a:t>
            </a:r>
          </a:p>
        </p:txBody>
      </p:sp>
      <p:sp>
        <p:nvSpPr>
          <p:cNvPr id="13" name="">
            <a:extLst xmlns:a="http://schemas.openxmlformats.org/drawingml/2006/main">
              <a:ext uri="{FF2B5EF4-FFF2-40B4-BE49-F238E27FC236}">
                <a16:creationId xmlns:a16="http://schemas.microsoft.com/office/drawing/2014/main" id="{EB45ECD4-5246-4474-A6F4-984157FAE36B}"/>
              </a:ext>
            </a:extLst>
          </p:cNvPr>
          <p:cNvSpPr>
            <a:spLocks xmlns:a="http://schemas.openxmlformats.org/drawingml/2006/main" noGrp="1"/>
          </p:cNvSpPr>
          <p:nvPr/>
        </p:nvSpPr>
        <p:spPr>
          <a:xfrm xmlns:a="http://schemas.openxmlformats.org/drawingml/2006/main">
            <a:off x="9182100" y="2466975"/>
            <a:ext cx="514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0">
                <a:solidFill>
                  <a:srgbClr val="526976"/>
                </a:solidFill>
                <a:latin typeface="Arial"/>
                <a:ea typeface="Arial"/>
                <a:cs typeface="Arial"/>
              </a:defRPr>
            </a:pPr>
            <a:r>
              <a:rPr sz="3450" b="0">
                <a:solidFill>
                  <a:srgbClr val="526976"/>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DDD7BC68-9A29-400A-804B-1F3F400BB7B2}"/>
              </a:ext>
            </a:extLst>
          </p:cNvPr>
          <p:cNvSpPr>
            <a:spLocks xmlns:a="http://schemas.openxmlformats.org/drawingml/2006/main" noGrp="1"/>
          </p:cNvSpPr>
          <p:nvPr/>
        </p:nvSpPr>
        <p:spPr>
          <a:xfrm xmlns:a="http://schemas.openxmlformats.org/drawingml/2006/main">
            <a:off x="9829800" y="2343150"/>
            <a:ext cx="2000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350" b="1">
                <a:solidFill>
                  <a:srgbClr val="087F83"/>
                </a:solidFill>
                <a:latin typeface="Arial"/>
                <a:ea typeface="Arial"/>
                <a:cs typeface="Arial"/>
              </a:defRPr>
            </a:pPr>
            <a:r>
              <a:rPr sz="4350" b="1">
                <a:solidFill>
                  <a:srgbClr val="087F83"/>
                </a:solidFill>
                <a:latin typeface="Arial"/>
                <a:ea typeface="Arial"/>
                <a:cs typeface="Arial"/>
              </a:rPr>
              <a:t>1,000</a:t>
            </a:r>
          </a:p>
        </p:txBody>
      </p:sp>
      <p:sp>
        <p:nvSpPr>
          <p:cNvPr id="15" name="">
            <a:extLst xmlns:a="http://schemas.openxmlformats.org/drawingml/2006/main">
              <a:ext uri="{FF2B5EF4-FFF2-40B4-BE49-F238E27FC236}">
                <a16:creationId xmlns:a16="http://schemas.microsoft.com/office/drawing/2014/main" id="{9C81CCCD-BDD0-4D69-9FF8-ADA8F01F2BD8}"/>
              </a:ext>
            </a:extLst>
          </p:cNvPr>
          <p:cNvSpPr>
            <a:spLocks xmlns:a="http://schemas.openxmlformats.org/drawingml/2006/main" noGrp="1"/>
          </p:cNvSpPr>
          <p:nvPr/>
        </p:nvSpPr>
        <p:spPr>
          <a:xfrm xmlns:a="http://schemas.openxmlformats.org/drawingml/2006/main">
            <a:off x="9829800" y="3333750"/>
            <a:ext cx="1752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102C3C"/>
                </a:solidFill>
                <a:latin typeface="Arial"/>
                <a:ea typeface="Arial"/>
                <a:cs typeface="Arial"/>
              </a:defRPr>
            </a:pPr>
            <a:r>
              <a:rPr sz="1800" b="0">
                <a:solidFill>
                  <a:srgbClr val="102C3C"/>
                </a:solidFill>
                <a:latin typeface="Arial"/>
                <a:ea typeface="Arial"/>
                <a:cs typeface="Arial"/>
              </a:rPr>
              <a:t>workflows</a:t>
            </a:r>
          </a:p>
          <a:p xmlns:a="http://schemas.openxmlformats.org/drawingml/2006/main">
            <a:pPr>
              <a:defRPr sz="1800" b="0">
                <a:solidFill>
                  <a:srgbClr val="102C3C"/>
                </a:solidFill>
                <a:latin typeface="Arial"/>
                <a:ea typeface="Arial"/>
                <a:cs typeface="Arial"/>
              </a:defRPr>
            </a:pPr>
            <a:r>
              <a:rPr sz="1800" b="0">
                <a:solidFill>
                  <a:srgbClr val="102C3C"/>
                </a:solidFill>
                <a:latin typeface="Arial"/>
                <a:ea typeface="Arial"/>
                <a:cs typeface="Arial"/>
              </a:rPr>
              <a:t>per month</a:t>
            </a:r>
          </a:p>
        </p:txBody>
      </p:sp>
      <p:sp>
        <p:nvSpPr>
          <p:cNvPr id="16" name="">
            <a:extLst xmlns:a="http://schemas.openxmlformats.org/drawingml/2006/main">
              <a:ext uri="{FF2B5EF4-FFF2-40B4-BE49-F238E27FC236}">
                <a16:creationId xmlns:a16="http://schemas.microsoft.com/office/drawing/2014/main" id="{0B43B83C-7FF4-4777-892B-FAA0218AA8EE}"/>
              </a:ext>
            </a:extLst>
          </p:cNvPr>
          <p:cNvSpPr>
            <a:spLocks xmlns:a="http://schemas.openxmlformats.org/drawingml/2006/main" noGrp="1"/>
          </p:cNvSpPr>
          <p:nvPr/>
        </p:nvSpPr>
        <p:spPr>
          <a:xfrm xmlns:a="http://schemas.openxmlformats.org/drawingml/2006/main">
            <a:off x="609600" y="4381500"/>
            <a:ext cx="10972800" cy="0"/>
          </a:xfrm>
          <a:prstGeom xmlns:a="http://schemas.openxmlformats.org/drawingml/2006/main" prst="line">
            <a:avLst/>
          </a:prstGeom>
          <a:noFill xmlns:a="http://schemas.openxmlformats.org/drawingml/2006/main"/>
          <a:ln xmlns:a="http://schemas.openxmlformats.org/drawingml/2006/main" w="14288">
            <a:solidFill>
              <a:srgbClr val="B9CDCF"/>
            </a:solidFill>
          </a:ln>
        </p:spPr>
      </p:sp>
      <p:sp>
        <p:nvSpPr>
          <p:cNvPr id="17" name="">
            <a:extLst xmlns:a="http://schemas.openxmlformats.org/drawingml/2006/main">
              <a:ext uri="{FF2B5EF4-FFF2-40B4-BE49-F238E27FC236}">
                <a16:creationId xmlns:a16="http://schemas.microsoft.com/office/drawing/2014/main" id="{828B12B4-D0EA-44F8-8201-EAEC599E1114}"/>
              </a:ext>
            </a:extLst>
          </p:cNvPr>
          <p:cNvSpPr>
            <a:spLocks xmlns:a="http://schemas.openxmlformats.org/drawingml/2006/main" noGrp="1"/>
          </p:cNvSpPr>
          <p:nvPr/>
        </p:nvSpPr>
        <p:spPr>
          <a:xfrm xmlns:a="http://schemas.openxmlformats.org/drawingml/2006/main">
            <a:off x="609600" y="4791075"/>
            <a:ext cx="2647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087F83"/>
                </a:solidFill>
                <a:latin typeface="Arial"/>
                <a:ea typeface="Arial"/>
                <a:cs typeface="Arial"/>
              </a:defRPr>
            </a:pPr>
            <a:r>
              <a:rPr sz="1950" b="1">
                <a:solidFill>
                  <a:srgbClr val="087F83"/>
                </a:solidFill>
                <a:latin typeface="Arial"/>
                <a:ea typeface="Arial"/>
                <a:cs typeface="Arial"/>
              </a:rPr>
              <a:t>Measure benefit</a:t>
            </a:r>
          </a:p>
        </p:txBody>
      </p:sp>
      <p:sp>
        <p:nvSpPr>
          <p:cNvPr id="18" name="">
            <a:extLst xmlns:a="http://schemas.openxmlformats.org/drawingml/2006/main">
              <a:ext uri="{FF2B5EF4-FFF2-40B4-BE49-F238E27FC236}">
                <a16:creationId xmlns:a16="http://schemas.microsoft.com/office/drawing/2014/main" id="{A1767952-9E3F-438A-B4E3-F7D878840527}"/>
              </a:ext>
            </a:extLst>
          </p:cNvPr>
          <p:cNvSpPr>
            <a:spLocks xmlns:a="http://schemas.openxmlformats.org/drawingml/2006/main" noGrp="1"/>
          </p:cNvSpPr>
          <p:nvPr/>
        </p:nvSpPr>
        <p:spPr>
          <a:xfrm xmlns:a="http://schemas.openxmlformats.org/drawingml/2006/main">
            <a:off x="3486150" y="4791075"/>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02C3C"/>
                </a:solidFill>
                <a:latin typeface="Arial"/>
                <a:ea typeface="Arial"/>
                <a:cs typeface="Arial"/>
              </a:defRPr>
            </a:pPr>
            <a:r>
              <a:rPr sz="1875" b="0">
                <a:solidFill>
                  <a:srgbClr val="102C3C"/>
                </a:solidFill>
                <a:latin typeface="Arial"/>
                <a:ea typeface="Arial"/>
                <a:cs typeface="Arial"/>
              </a:rPr>
              <a:t>Review time • follow-up completion • user comprehension</a:t>
            </a:r>
          </a:p>
        </p:txBody>
      </p:sp>
      <p:sp>
        <p:nvSpPr>
          <p:cNvPr id="19" name="">
            <a:extLst xmlns:a="http://schemas.openxmlformats.org/drawingml/2006/main">
              <a:ext uri="{FF2B5EF4-FFF2-40B4-BE49-F238E27FC236}">
                <a16:creationId xmlns:a16="http://schemas.microsoft.com/office/drawing/2014/main" id="{DEC2D744-C950-4C45-A463-D06A4951C529}"/>
              </a:ext>
            </a:extLst>
          </p:cNvPr>
          <p:cNvSpPr>
            <a:spLocks xmlns:a="http://schemas.openxmlformats.org/drawingml/2006/main" noGrp="1"/>
          </p:cNvSpPr>
          <p:nvPr/>
        </p:nvSpPr>
        <p:spPr>
          <a:xfrm xmlns:a="http://schemas.openxmlformats.org/drawingml/2006/main">
            <a:off x="609600" y="5648325"/>
            <a:ext cx="2647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087F83"/>
                </a:solidFill>
                <a:latin typeface="Arial"/>
                <a:ea typeface="Arial"/>
                <a:cs typeface="Arial"/>
              </a:defRPr>
            </a:pPr>
            <a:r>
              <a:rPr sz="1950" b="1">
                <a:solidFill>
                  <a:srgbClr val="087F83"/>
                </a:solidFill>
                <a:latin typeface="Arial"/>
                <a:ea typeface="Arial"/>
                <a:cs typeface="Arial"/>
              </a:rPr>
              <a:t>Scale responsibly</a:t>
            </a:r>
          </a:p>
        </p:txBody>
      </p:sp>
      <p:sp>
        <p:nvSpPr>
          <p:cNvPr id="20" name="">
            <a:extLst xmlns:a="http://schemas.openxmlformats.org/drawingml/2006/main">
              <a:ext uri="{FF2B5EF4-FFF2-40B4-BE49-F238E27FC236}">
                <a16:creationId xmlns:a16="http://schemas.microsoft.com/office/drawing/2014/main" id="{7C7449B9-13FA-4C83-AEF3-F07735D2ECF5}"/>
              </a:ext>
            </a:extLst>
          </p:cNvPr>
          <p:cNvSpPr>
            <a:spLocks xmlns:a="http://schemas.openxmlformats.org/drawingml/2006/main" noGrp="1"/>
          </p:cNvSpPr>
          <p:nvPr/>
        </p:nvSpPr>
        <p:spPr>
          <a:xfrm xmlns:a="http://schemas.openxmlformats.org/drawingml/2006/main">
            <a:off x="3486150" y="5610225"/>
            <a:ext cx="8096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02C3C"/>
                </a:solidFill>
                <a:latin typeface="Arial"/>
                <a:ea typeface="Arial"/>
                <a:cs typeface="Arial"/>
              </a:defRPr>
            </a:pPr>
            <a:r>
              <a:rPr sz="1875" b="0">
                <a:solidFill>
                  <a:srgbClr val="102C3C"/>
                </a:solidFill>
                <a:latin typeface="Arial"/>
                <a:ea typeface="Arial"/>
                <a:cs typeface="Arial"/>
              </a:rPr>
              <a:t>Add model workers and durable storage as validated clinic demand grows.</a:t>
            </a:r>
          </a:p>
        </p:txBody>
      </p:sp>
    </p:spTree>
    <p:extLst>
      <p:ext uri="{BB962C8B-B14F-4D97-AF65-F5344CB8AC3E}">
        <p14:creationId xmlns:p14="http://schemas.microsoft.com/office/powerpoint/2010/main" val="1109315918"/>
      </p:ext>
    </p:extLst>
  </p:cSld>
</p:sld>
</file>

<file path=ppt/slides/slide9.xml><?xml version="1.0" encoding="utf-8"?>
<p:sld xmlns:p="http://schemas.openxmlformats.org/presentationml/2006/main">
  <p:cSld>
    <p:bg>
      <p:bgPr>
        <a:solidFill xmlns:a="http://schemas.openxmlformats.org/drawingml/2006/main">
          <a:srgbClr val="F6F9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6611410-AB23-4532-9E93-8BB5A8B737B9}"/>
              </a:ext>
            </a:extLst>
          </p:cNvPr>
          <p:cNvSpPr>
            <a:spLocks xmlns:a="http://schemas.openxmlformats.org/drawingml/2006/main" noGrp="1"/>
          </p:cNvSpPr>
          <p:nvPr/>
        </p:nvSpPr>
        <p:spPr>
          <a:xfrm xmlns:a="http://schemas.openxmlformats.org/drawingml/2006/main">
            <a:off x="609600" y="428625"/>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Challenges &amp; Learnings</a:t>
            </a:r>
          </a:p>
        </p:txBody>
      </p:sp>
      <p:sp>
        <p:nvSpPr>
          <p:cNvPr id="2" name="">
            <a:extLst xmlns:a="http://schemas.openxmlformats.org/drawingml/2006/main">
              <a:ext uri="{FF2B5EF4-FFF2-40B4-BE49-F238E27FC236}">
                <a16:creationId xmlns:a16="http://schemas.microsoft.com/office/drawing/2014/main" id="{CA4E6B32-EE49-498A-ACE6-14044018E871}"/>
              </a:ext>
            </a:extLst>
          </p:cNvPr>
          <p:cNvSpPr>
            <a:spLocks xmlns:a="http://schemas.openxmlformats.org/drawingml/2006/main" noGrp="1"/>
          </p:cNvSpPr>
          <p:nvPr/>
        </p:nvSpPr>
        <p:spPr>
          <a:xfrm xmlns:a="http://schemas.openxmlformats.org/drawingml/2006/main">
            <a:off x="609600" y="64293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26976"/>
                </a:solidFill>
                <a:latin typeface="Arial"/>
                <a:ea typeface="Arial"/>
                <a:cs typeface="Arial"/>
              </a:defRPr>
            </a:pPr>
            <a:r>
              <a:rPr sz="1200" b="0">
                <a:solidFill>
                  <a:srgbClr val="526976"/>
                </a:solidFill>
                <a:latin typeface="Arial"/>
                <a:ea typeface="Arial"/>
                <a:cs typeface="Arial"/>
              </a:rPr>
              <a:t>OncoCatch  /  AuraMed</a:t>
            </a:r>
          </a:p>
        </p:txBody>
      </p:sp>
      <p:sp>
        <p:nvSpPr>
          <p:cNvPr id="3" name="">
            <a:extLst xmlns:a="http://schemas.openxmlformats.org/drawingml/2006/main">
              <a:ext uri="{FF2B5EF4-FFF2-40B4-BE49-F238E27FC236}">
                <a16:creationId xmlns:a16="http://schemas.microsoft.com/office/drawing/2014/main" id="{46278C27-5D69-44DB-84C7-BB09D7EC269A}"/>
              </a:ext>
            </a:extLst>
          </p:cNvPr>
          <p:cNvSpPr>
            <a:spLocks xmlns:a="http://schemas.openxmlformats.org/drawingml/2006/main" noGrp="1"/>
          </p:cNvSpPr>
          <p:nvPr/>
        </p:nvSpPr>
        <p:spPr>
          <a:xfrm xmlns:a="http://schemas.openxmlformats.org/drawingml/2006/main">
            <a:off x="10668000" y="642937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26976"/>
                </a:solidFill>
                <a:latin typeface="Arial"/>
                <a:ea typeface="Arial"/>
                <a:cs typeface="Arial"/>
              </a:defRPr>
            </a:pPr>
            <a:r>
              <a:rPr sz="1200" b="0">
                <a:solidFill>
                  <a:srgbClr val="526976"/>
                </a:solidFill>
                <a:latin typeface="Arial"/>
                <a:ea typeface="Arial"/>
                <a:cs typeface="Arial"/>
              </a:rPr>
              <a:t>09 / 11</a:t>
            </a:r>
          </a:p>
        </p:txBody>
      </p:sp>
      <p:sp>
        <p:nvSpPr>
          <p:cNvPr id="4" name="">
            <a:extLst xmlns:a="http://schemas.openxmlformats.org/drawingml/2006/main">
              <a:ext uri="{FF2B5EF4-FFF2-40B4-BE49-F238E27FC236}">
                <a16:creationId xmlns:a16="http://schemas.microsoft.com/office/drawing/2014/main" id="{531816E1-6A54-477C-AEA3-2A216EB66DFE}"/>
              </a:ext>
            </a:extLst>
          </p:cNvPr>
          <p:cNvSpPr>
            <a:spLocks xmlns:a="http://schemas.openxmlformats.org/drawingml/2006/main" noGrp="1"/>
          </p:cNvSpPr>
          <p:nvPr/>
        </p:nvSpPr>
        <p:spPr>
          <a:xfrm xmlns:a="http://schemas.openxmlformats.org/drawingml/2006/main">
            <a:off x="609600" y="158115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526976"/>
                </a:solidFill>
                <a:latin typeface="Arial"/>
                <a:ea typeface="Arial"/>
                <a:cs typeface="Arial"/>
              </a:defRPr>
            </a:pPr>
            <a:r>
              <a:rPr sz="1875" b="1">
                <a:solidFill>
                  <a:srgbClr val="526976"/>
                </a:solidFill>
                <a:latin typeface="Arial"/>
                <a:ea typeface="Arial"/>
                <a:cs typeface="Arial"/>
              </a:rPr>
              <a:t>Challenge</a:t>
            </a:r>
          </a:p>
        </p:txBody>
      </p:sp>
      <p:sp>
        <p:nvSpPr>
          <p:cNvPr id="5" name="">
            <a:extLst xmlns:a="http://schemas.openxmlformats.org/drawingml/2006/main">
              <a:ext uri="{FF2B5EF4-FFF2-40B4-BE49-F238E27FC236}">
                <a16:creationId xmlns:a16="http://schemas.microsoft.com/office/drawing/2014/main" id="{9ECD2CEF-E267-4CF5-A7A2-F62B939A7911}"/>
              </a:ext>
            </a:extLst>
          </p:cNvPr>
          <p:cNvSpPr>
            <a:spLocks xmlns:a="http://schemas.openxmlformats.org/drawingml/2006/main" noGrp="1"/>
          </p:cNvSpPr>
          <p:nvPr/>
        </p:nvSpPr>
        <p:spPr>
          <a:xfrm xmlns:a="http://schemas.openxmlformats.org/drawingml/2006/main">
            <a:off x="4762500" y="1581150"/>
            <a:ext cx="6800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087F83"/>
                </a:solidFill>
                <a:latin typeface="Arial"/>
                <a:ea typeface="Arial"/>
                <a:cs typeface="Arial"/>
              </a:defRPr>
            </a:pPr>
            <a:r>
              <a:rPr sz="1875" b="1">
                <a:solidFill>
                  <a:srgbClr val="087F83"/>
                </a:solidFill>
                <a:latin typeface="Arial"/>
                <a:ea typeface="Arial"/>
                <a:cs typeface="Arial"/>
              </a:rPr>
              <a:t>Response and learning</a:t>
            </a:r>
          </a:p>
        </p:txBody>
      </p:sp>
      <p:sp>
        <p:nvSpPr>
          <p:cNvPr id="6" name="">
            <a:extLst xmlns:a="http://schemas.openxmlformats.org/drawingml/2006/main">
              <a:ext uri="{FF2B5EF4-FFF2-40B4-BE49-F238E27FC236}">
                <a16:creationId xmlns:a16="http://schemas.microsoft.com/office/drawing/2014/main" id="{72563D40-A48C-4D9D-8672-EADBD05BE050}"/>
              </a:ext>
            </a:extLst>
          </p:cNvPr>
          <p:cNvSpPr>
            <a:spLocks xmlns:a="http://schemas.openxmlformats.org/drawingml/2006/main" noGrp="1"/>
          </p:cNvSpPr>
          <p:nvPr/>
        </p:nvSpPr>
        <p:spPr>
          <a:xfrm xmlns:a="http://schemas.openxmlformats.org/drawingml/2006/main">
            <a:off x="609600" y="2143125"/>
            <a:ext cx="10972800" cy="0"/>
          </a:xfrm>
          <a:prstGeom xmlns:a="http://schemas.openxmlformats.org/drawingml/2006/main" prst="line">
            <a:avLst/>
          </a:prstGeom>
          <a:noFill xmlns:a="http://schemas.openxmlformats.org/drawingml/2006/main"/>
          <a:ln xmlns:a="http://schemas.openxmlformats.org/drawingml/2006/main" w="14288">
            <a:solidFill>
              <a:srgbClr val="B9CDCF"/>
            </a:solidFill>
          </a:ln>
        </p:spPr>
      </p:sp>
      <p:sp>
        <p:nvSpPr>
          <p:cNvPr id="7" name="">
            <a:extLst xmlns:a="http://schemas.openxmlformats.org/drawingml/2006/main">
              <a:ext uri="{FF2B5EF4-FFF2-40B4-BE49-F238E27FC236}">
                <a16:creationId xmlns:a16="http://schemas.microsoft.com/office/drawing/2014/main" id="{1CA5B18E-ABB1-4258-A126-7CEBAC351632}"/>
              </a:ext>
            </a:extLst>
          </p:cNvPr>
          <p:cNvSpPr>
            <a:spLocks xmlns:a="http://schemas.openxmlformats.org/drawingml/2006/main" noGrp="1"/>
          </p:cNvSpPr>
          <p:nvPr/>
        </p:nvSpPr>
        <p:spPr>
          <a:xfrm xmlns:a="http://schemas.openxmlformats.org/drawingml/2006/main">
            <a:off x="609600" y="2600325"/>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75" b="1">
                <a:solidFill>
                  <a:srgbClr val="102C3C"/>
                </a:solidFill>
                <a:latin typeface="Arial"/>
                <a:ea typeface="Arial"/>
                <a:cs typeface="Arial"/>
              </a:defRPr>
            </a:pPr>
            <a:r>
              <a:rPr sz="2475" b="1">
                <a:solidFill>
                  <a:srgbClr val="102C3C"/>
                </a:solidFill>
                <a:latin typeface="Arial"/>
                <a:ea typeface="Arial"/>
                <a:cs typeface="Arial"/>
              </a:rPr>
              <a:t>Model hosting</a:t>
            </a:r>
          </a:p>
          <a:p xmlns:a="http://schemas.openxmlformats.org/drawingml/2006/main">
            <a:pPr>
              <a:defRPr sz="2475" b="1">
                <a:solidFill>
                  <a:srgbClr val="102C3C"/>
                </a:solidFill>
                <a:latin typeface="Arial"/>
                <a:ea typeface="Arial"/>
                <a:cs typeface="Arial"/>
              </a:defRPr>
            </a:pPr>
            <a:r>
              <a:rPr sz="2475" b="1">
                <a:solidFill>
                  <a:srgbClr val="102C3C"/>
                </a:solidFill>
                <a:latin typeface="Arial"/>
                <a:ea typeface="Arial"/>
                <a:cs typeface="Arial"/>
              </a:rPr>
              <a:t>on a free public site</a:t>
            </a:r>
          </a:p>
        </p:txBody>
      </p:sp>
      <p:sp>
        <p:nvSpPr>
          <p:cNvPr id="8" name="">
            <a:extLst xmlns:a="http://schemas.openxmlformats.org/drawingml/2006/main">
              <a:ext uri="{FF2B5EF4-FFF2-40B4-BE49-F238E27FC236}">
                <a16:creationId xmlns:a16="http://schemas.microsoft.com/office/drawing/2014/main" id="{B1634746-E84C-4341-AB9B-2DB5646B617A}"/>
              </a:ext>
            </a:extLst>
          </p:cNvPr>
          <p:cNvSpPr>
            <a:spLocks xmlns:a="http://schemas.openxmlformats.org/drawingml/2006/main" noGrp="1"/>
          </p:cNvSpPr>
          <p:nvPr/>
        </p:nvSpPr>
        <p:spPr>
          <a:xfrm xmlns:a="http://schemas.openxmlformats.org/drawingml/2006/main">
            <a:off x="4762500" y="2590800"/>
            <a:ext cx="6762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02C3C"/>
                </a:solidFill>
                <a:latin typeface="Arial"/>
                <a:ea typeface="Arial"/>
                <a:cs typeface="Arial"/>
              </a:defRPr>
            </a:pPr>
            <a:r>
              <a:rPr sz="2025" b="0">
                <a:solidFill>
                  <a:srgbClr val="102C3C"/>
                </a:solidFill>
                <a:latin typeface="Arial"/>
                <a:ea typeface="Arial"/>
                <a:cs typeface="Arial"/>
              </a:rPr>
              <a:t>Kept live inference in the local backend.</a:t>
            </a:r>
          </a:p>
          <a:p xmlns:a="http://schemas.openxmlformats.org/drawingml/2006/main">
            <a:pPr>
              <a:defRPr sz="2025" b="0">
                <a:solidFill>
                  <a:srgbClr val="102C3C"/>
                </a:solidFill>
                <a:latin typeface="Arial"/>
                <a:ea typeface="Arial"/>
                <a:cs typeface="Arial"/>
              </a:defRPr>
            </a:pPr>
            <a:r>
              <a:rPr sz="2025" b="0">
                <a:solidFill>
                  <a:srgbClr val="102C3C"/>
                </a:solidFill>
                <a:latin typeface="Arial"/>
                <a:ea typeface="Arial"/>
                <a:cs typeface="Arial"/>
              </a:rPr>
              <a:t>Published nine labeled, saved examples online.</a:t>
            </a:r>
          </a:p>
        </p:txBody>
      </p:sp>
      <p:sp>
        <p:nvSpPr>
          <p:cNvPr id="9" name="">
            <a:extLst xmlns:a="http://schemas.openxmlformats.org/drawingml/2006/main">
              <a:ext uri="{FF2B5EF4-FFF2-40B4-BE49-F238E27FC236}">
                <a16:creationId xmlns:a16="http://schemas.microsoft.com/office/drawing/2014/main" id="{7A7FFB02-40B6-43E0-9BDF-ABD63663464D}"/>
              </a:ext>
            </a:extLst>
          </p:cNvPr>
          <p:cNvSpPr>
            <a:spLocks xmlns:a="http://schemas.openxmlformats.org/drawingml/2006/main" noGrp="1"/>
          </p:cNvSpPr>
          <p:nvPr/>
        </p:nvSpPr>
        <p:spPr>
          <a:xfrm xmlns:a="http://schemas.openxmlformats.org/drawingml/2006/main">
            <a:off x="4762500" y="3552825"/>
            <a:ext cx="676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26976"/>
                </a:solidFill>
                <a:latin typeface="Arial"/>
                <a:ea typeface="Arial"/>
                <a:cs typeface="Arial"/>
              </a:defRPr>
            </a:pPr>
            <a:r>
              <a:rPr sz="1725" b="0">
                <a:solidFill>
                  <a:srgbClr val="526976"/>
                </a:solidFill>
                <a:latin typeface="Arial"/>
                <a:ea typeface="Arial"/>
                <a:cs typeface="Arial"/>
              </a:rPr>
              <a:t>Learning: make the boundary between live and simulated behavior visible.</a:t>
            </a:r>
          </a:p>
        </p:txBody>
      </p:sp>
      <p:sp>
        <p:nvSpPr>
          <p:cNvPr id="10" name="">
            <a:extLst xmlns:a="http://schemas.openxmlformats.org/drawingml/2006/main">
              <a:ext uri="{FF2B5EF4-FFF2-40B4-BE49-F238E27FC236}">
                <a16:creationId xmlns:a16="http://schemas.microsoft.com/office/drawing/2014/main" id="{4CAD4B1A-3B77-44AB-A86A-84A134FE4E30}"/>
              </a:ext>
            </a:extLst>
          </p:cNvPr>
          <p:cNvSpPr>
            <a:spLocks xmlns:a="http://schemas.openxmlformats.org/drawingml/2006/main" noGrp="1"/>
          </p:cNvSpPr>
          <p:nvPr/>
        </p:nvSpPr>
        <p:spPr>
          <a:xfrm xmlns:a="http://schemas.openxmlformats.org/drawingml/2006/main">
            <a:off x="609600" y="4371975"/>
            <a:ext cx="10972800" cy="0"/>
          </a:xfrm>
          <a:prstGeom xmlns:a="http://schemas.openxmlformats.org/drawingml/2006/main" prst="line">
            <a:avLst/>
          </a:prstGeom>
          <a:noFill xmlns:a="http://schemas.openxmlformats.org/drawingml/2006/main"/>
          <a:ln xmlns:a="http://schemas.openxmlformats.org/drawingml/2006/main" w="14288">
            <a:solidFill>
              <a:srgbClr val="B9CDCF"/>
            </a:solidFill>
          </a:ln>
        </p:spPr>
      </p:sp>
      <p:sp>
        <p:nvSpPr>
          <p:cNvPr id="11" name="">
            <a:extLst xmlns:a="http://schemas.openxmlformats.org/drawingml/2006/main">
              <a:ext uri="{FF2B5EF4-FFF2-40B4-BE49-F238E27FC236}">
                <a16:creationId xmlns:a16="http://schemas.microsoft.com/office/drawing/2014/main" id="{8A1C30B2-E6E8-40A0-970D-1D1F5EE88048}"/>
              </a:ext>
            </a:extLst>
          </p:cNvPr>
          <p:cNvSpPr>
            <a:spLocks xmlns:a="http://schemas.openxmlformats.org/drawingml/2006/main" noGrp="1"/>
          </p:cNvSpPr>
          <p:nvPr/>
        </p:nvSpPr>
        <p:spPr>
          <a:xfrm xmlns:a="http://schemas.openxmlformats.org/drawingml/2006/main">
            <a:off x="609600" y="4724400"/>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75" b="1">
                <a:solidFill>
                  <a:srgbClr val="102C3C"/>
                </a:solidFill>
                <a:latin typeface="Arial"/>
                <a:ea typeface="Arial"/>
                <a:cs typeface="Arial"/>
              </a:defRPr>
            </a:pPr>
            <a:r>
              <a:rPr sz="2475" b="1">
                <a:solidFill>
                  <a:srgbClr val="102C3C"/>
                </a:solidFill>
                <a:latin typeface="Arial"/>
                <a:ea typeface="Arial"/>
                <a:cs typeface="Arial"/>
              </a:rPr>
              <a:t>Consistency across</a:t>
            </a:r>
          </a:p>
          <a:p xmlns:a="http://schemas.openxmlformats.org/drawingml/2006/main">
            <a:pPr>
              <a:defRPr sz="2475" b="1">
                <a:solidFill>
                  <a:srgbClr val="102C3C"/>
                </a:solidFill>
                <a:latin typeface="Arial"/>
                <a:ea typeface="Arial"/>
                <a:cs typeface="Arial"/>
              </a:defRPr>
            </a:pPr>
            <a:r>
              <a:rPr sz="2475" b="1">
                <a:solidFill>
                  <a:srgbClr val="102C3C"/>
                </a:solidFill>
                <a:latin typeface="Arial"/>
                <a:ea typeface="Arial"/>
                <a:cs typeface="Arial"/>
              </a:rPr>
              <a:t>results and reports</a:t>
            </a:r>
          </a:p>
        </p:txBody>
      </p:sp>
      <p:sp>
        <p:nvSpPr>
          <p:cNvPr id="12" name="">
            <a:extLst xmlns:a="http://schemas.openxmlformats.org/drawingml/2006/main">
              <a:ext uri="{FF2B5EF4-FFF2-40B4-BE49-F238E27FC236}">
                <a16:creationId xmlns:a16="http://schemas.microsoft.com/office/drawing/2014/main" id="{B8921D81-8ED7-4560-A9B9-FD59D970DCB8}"/>
              </a:ext>
            </a:extLst>
          </p:cNvPr>
          <p:cNvSpPr>
            <a:spLocks xmlns:a="http://schemas.openxmlformats.org/drawingml/2006/main" noGrp="1"/>
          </p:cNvSpPr>
          <p:nvPr/>
        </p:nvSpPr>
        <p:spPr>
          <a:xfrm xmlns:a="http://schemas.openxmlformats.org/drawingml/2006/main">
            <a:off x="4762500" y="4714875"/>
            <a:ext cx="6762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02C3C"/>
                </a:solidFill>
                <a:latin typeface="Arial"/>
                <a:ea typeface="Arial"/>
                <a:cs typeface="Arial"/>
              </a:defRPr>
            </a:pPr>
            <a:r>
              <a:rPr sz="2025" b="0">
                <a:solidFill>
                  <a:srgbClr val="102C3C"/>
                </a:solidFill>
                <a:latin typeface="Arial"/>
                <a:ea typeface="Arial"/>
                <a:cs typeface="Arial"/>
              </a:rPr>
              <a:t>Corrected image paths, heatmap display and</a:t>
            </a:r>
          </a:p>
          <a:p xmlns:a="http://schemas.openxmlformats.org/drawingml/2006/main">
            <a:pPr>
              <a:defRPr sz="2025" b="0">
                <a:solidFill>
                  <a:srgbClr val="102C3C"/>
                </a:solidFill>
                <a:latin typeface="Arial"/>
                <a:ea typeface="Arial"/>
                <a:cs typeface="Arial"/>
              </a:defRPr>
            </a:pPr>
            <a:r>
              <a:rPr sz="2025" b="0">
                <a:solidFill>
                  <a:srgbClr val="102C3C"/>
                </a:solidFill>
                <a:latin typeface="Arial"/>
                <a:ea typeface="Arial"/>
                <a:cs typeface="Arial"/>
              </a:rPr>
              <a:t>module-specific fusion labels in demo reports.</a:t>
            </a:r>
          </a:p>
        </p:txBody>
      </p:sp>
      <p:sp>
        <p:nvSpPr>
          <p:cNvPr id="13" name="">
            <a:extLst xmlns:a="http://schemas.openxmlformats.org/drawingml/2006/main">
              <a:ext uri="{FF2B5EF4-FFF2-40B4-BE49-F238E27FC236}">
                <a16:creationId xmlns:a16="http://schemas.microsoft.com/office/drawing/2014/main" id="{4CE69AF4-0C2E-4D52-820A-677E5CDA1EE6}"/>
              </a:ext>
            </a:extLst>
          </p:cNvPr>
          <p:cNvSpPr>
            <a:spLocks xmlns:a="http://schemas.openxmlformats.org/drawingml/2006/main" noGrp="1"/>
          </p:cNvSpPr>
          <p:nvPr/>
        </p:nvSpPr>
        <p:spPr>
          <a:xfrm xmlns:a="http://schemas.openxmlformats.org/drawingml/2006/main">
            <a:off x="4762500" y="5667375"/>
            <a:ext cx="676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26976"/>
                </a:solidFill>
                <a:latin typeface="Arial"/>
                <a:ea typeface="Arial"/>
                <a:cs typeface="Arial"/>
              </a:defRPr>
            </a:pPr>
            <a:r>
              <a:rPr sz="1725" b="0">
                <a:solidFill>
                  <a:srgbClr val="526976"/>
                </a:solidFill>
                <a:latin typeface="Arial"/>
                <a:ea typeface="Arial"/>
                <a:cs typeface="Arial"/>
              </a:rPr>
              <a:t>Next: broaden regression checks across modules and collect clinician feedback.</a:t>
            </a:r>
          </a:p>
        </p:txBody>
      </p:sp>
    </p:spTree>
    <p:extLst>
      <p:ext uri="{BB962C8B-B14F-4D97-AF65-F5344CB8AC3E}">
        <p14:creationId xmlns:p14="http://schemas.microsoft.com/office/powerpoint/2010/main" val="2018852519"/>
      </p:ext>
    </p:extLst>
  </p:cSld>
</p:sld>
</file>

<file path=ppt/slides/slide10.xml><?xml version="1.0" encoding="utf-8"?>
<p:sld xmlns:p="http://schemas.openxmlformats.org/presentationml/2006/main">
  <p:cSld>
    <p:bg>
      <p:bgPr>
        <a:solidFill xmlns:a="http://schemas.openxmlformats.org/drawingml/2006/main">
          <a:srgbClr val="0A192B"/>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79C8875-AE5B-4D7B-A464-17E0E66CEB30}"/>
              </a:ext>
            </a:extLst>
          </p:cNvPr>
          <p:cNvSpPr>
            <a:spLocks xmlns:a="http://schemas.openxmlformats.org/drawingml/2006/main" noGrp="1"/>
          </p:cNvSpPr>
          <p:nvPr/>
        </p:nvSpPr>
        <p:spPr>
          <a:xfrm xmlns:a="http://schemas.openxmlformats.org/drawingml/2006/main">
            <a:off x="609600" y="428625"/>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Future Roadmap &amp; Ask</a:t>
            </a:r>
          </a:p>
        </p:txBody>
      </p:sp>
      <p:sp>
        <p:nvSpPr>
          <p:cNvPr id="2" name="">
            <a:extLst xmlns:a="http://schemas.openxmlformats.org/drawingml/2006/main">
              <a:ext uri="{FF2B5EF4-FFF2-40B4-BE49-F238E27FC236}">
                <a16:creationId xmlns:a16="http://schemas.microsoft.com/office/drawing/2014/main" id="{C963A7FC-5F46-4F37-B5C3-69EBE5E83FE9}"/>
              </a:ext>
            </a:extLst>
          </p:cNvPr>
          <p:cNvSpPr>
            <a:spLocks xmlns:a="http://schemas.openxmlformats.org/drawingml/2006/main" noGrp="1"/>
          </p:cNvSpPr>
          <p:nvPr/>
        </p:nvSpPr>
        <p:spPr>
          <a:xfrm xmlns:a="http://schemas.openxmlformats.org/drawingml/2006/main">
            <a:off x="609600" y="64293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9DB3C0"/>
                </a:solidFill>
                <a:latin typeface="Arial"/>
                <a:ea typeface="Arial"/>
                <a:cs typeface="Arial"/>
              </a:defRPr>
            </a:pPr>
            <a:r>
              <a:rPr sz="1200" b="0">
                <a:solidFill>
                  <a:srgbClr val="9DB3C0"/>
                </a:solidFill>
                <a:latin typeface="Arial"/>
                <a:ea typeface="Arial"/>
                <a:cs typeface="Arial"/>
              </a:rPr>
              <a:t>OncoCatch  /  AuraMed</a:t>
            </a:r>
          </a:p>
        </p:txBody>
      </p:sp>
      <p:sp>
        <p:nvSpPr>
          <p:cNvPr id="3" name="">
            <a:extLst xmlns:a="http://schemas.openxmlformats.org/drawingml/2006/main">
              <a:ext uri="{FF2B5EF4-FFF2-40B4-BE49-F238E27FC236}">
                <a16:creationId xmlns:a16="http://schemas.microsoft.com/office/drawing/2014/main" id="{41A777FF-DE4D-4497-BD3B-4ADF9DDCBEED}"/>
              </a:ext>
            </a:extLst>
          </p:cNvPr>
          <p:cNvSpPr>
            <a:spLocks xmlns:a="http://schemas.openxmlformats.org/drawingml/2006/main" noGrp="1"/>
          </p:cNvSpPr>
          <p:nvPr/>
        </p:nvSpPr>
        <p:spPr>
          <a:xfrm xmlns:a="http://schemas.openxmlformats.org/drawingml/2006/main">
            <a:off x="10668000" y="642937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9DB3C0"/>
                </a:solidFill>
                <a:latin typeface="Arial"/>
                <a:ea typeface="Arial"/>
                <a:cs typeface="Arial"/>
              </a:defRPr>
            </a:pPr>
            <a:r>
              <a:rPr sz="1200" b="0">
                <a:solidFill>
                  <a:srgbClr val="9DB3C0"/>
                </a:solidFill>
                <a:latin typeface="Arial"/>
                <a:ea typeface="Arial"/>
                <a:cs typeface="Arial"/>
              </a:rPr>
              <a:t>10 / 11</a:t>
            </a:r>
          </a:p>
        </p:txBody>
      </p:sp>
      <p:sp>
        <p:nvSpPr>
          <p:cNvPr id="4" name="">
            <a:extLst xmlns:a="http://schemas.openxmlformats.org/drawingml/2006/main">
              <a:ext uri="{FF2B5EF4-FFF2-40B4-BE49-F238E27FC236}">
                <a16:creationId xmlns:a16="http://schemas.microsoft.com/office/drawing/2014/main" id="{809D5B8A-8D8F-4013-A6F7-7BA67B833ACF}"/>
              </a:ext>
            </a:extLst>
          </p:cNvPr>
          <p:cNvSpPr>
            <a:spLocks xmlns:a="http://schemas.openxmlformats.org/drawingml/2006/main" noGrp="1"/>
          </p:cNvSpPr>
          <p:nvPr/>
        </p:nvSpPr>
        <p:spPr>
          <a:xfrm xmlns:a="http://schemas.openxmlformats.org/drawingml/2006/main">
            <a:off x="609600" y="1809750"/>
            <a:ext cx="142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51D6C4"/>
                </a:solidFill>
                <a:latin typeface="Arial"/>
                <a:ea typeface="Arial"/>
                <a:cs typeface="Arial"/>
              </a:defRPr>
            </a:pPr>
            <a:r>
              <a:rPr sz="3600" b="1">
                <a:solidFill>
                  <a:srgbClr val="51D6C4"/>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5C3E9B66-C858-40DB-A0F1-E2ECDABB6BF0}"/>
              </a:ext>
            </a:extLst>
          </p:cNvPr>
          <p:cNvSpPr>
            <a:spLocks xmlns:a="http://schemas.openxmlformats.org/drawingml/2006/main" noGrp="1"/>
          </p:cNvSpPr>
          <p:nvPr/>
        </p:nvSpPr>
        <p:spPr>
          <a:xfrm xmlns:a="http://schemas.openxmlformats.org/drawingml/2006/main">
            <a:off x="609600" y="271462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FFFFFF"/>
                </a:solidFill>
                <a:latin typeface="Arial"/>
                <a:ea typeface="Arial"/>
                <a:cs typeface="Arial"/>
              </a:defRPr>
            </a:pPr>
            <a:r>
              <a:rPr sz="2325" b="1">
                <a:solidFill>
                  <a:srgbClr val="FFFFFF"/>
                </a:solidFill>
                <a:latin typeface="Arial"/>
                <a:ea typeface="Arial"/>
                <a:cs typeface="Arial"/>
              </a:rPr>
              <a:t>Validate</a:t>
            </a:r>
          </a:p>
        </p:txBody>
      </p:sp>
      <p:sp>
        <p:nvSpPr>
          <p:cNvPr id="6" name="">
            <a:extLst xmlns:a="http://schemas.openxmlformats.org/drawingml/2006/main">
              <a:ext uri="{FF2B5EF4-FFF2-40B4-BE49-F238E27FC236}">
                <a16:creationId xmlns:a16="http://schemas.microsoft.com/office/drawing/2014/main" id="{832C025F-29F7-4791-9547-B8B25DAB7639}"/>
              </a:ext>
            </a:extLst>
          </p:cNvPr>
          <p:cNvSpPr>
            <a:spLocks xmlns:a="http://schemas.openxmlformats.org/drawingml/2006/main" noGrp="1"/>
          </p:cNvSpPr>
          <p:nvPr/>
        </p:nvSpPr>
        <p:spPr>
          <a:xfrm xmlns:a="http://schemas.openxmlformats.org/drawingml/2006/main">
            <a:off x="609600" y="3448050"/>
            <a:ext cx="3209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CBDBE2"/>
                </a:solidFill>
                <a:latin typeface="Arial"/>
                <a:ea typeface="Arial"/>
                <a:cs typeface="Arial"/>
              </a:defRPr>
            </a:pPr>
            <a:r>
              <a:rPr sz="1875" b="0">
                <a:solidFill>
                  <a:srgbClr val="CBDBE2"/>
                </a:solidFill>
                <a:latin typeface="Arial"/>
                <a:ea typeface="Arial"/>
                <a:cs typeface="Arial"/>
              </a:rPr>
              <a:t>Independent test cohort</a:t>
            </a:r>
          </a:p>
          <a:p xmlns:a="http://schemas.openxmlformats.org/drawingml/2006/main">
            <a:pPr>
              <a:defRPr sz="1875" b="0">
                <a:solidFill>
                  <a:srgbClr val="CBDBE2"/>
                </a:solidFill>
                <a:latin typeface="Arial"/>
                <a:ea typeface="Arial"/>
                <a:cs typeface="Arial"/>
              </a:defRPr>
            </a:pPr>
            <a:r>
              <a:rPr sz="1875" b="0">
                <a:solidFill>
                  <a:srgbClr val="CBDBE2"/>
                </a:solidFill>
                <a:latin typeface="Arial"/>
                <a:ea typeface="Arial"/>
                <a:cs typeface="Arial"/>
              </a:rPr>
              <a:t>Calibration and error review</a:t>
            </a:r>
          </a:p>
          <a:p xmlns:a="http://schemas.openxmlformats.org/drawingml/2006/main">
            <a:pPr>
              <a:defRPr sz="1875" b="0">
                <a:solidFill>
                  <a:srgbClr val="CBDBE2"/>
                </a:solidFill>
                <a:latin typeface="Arial"/>
                <a:ea typeface="Arial"/>
                <a:cs typeface="Arial"/>
              </a:defRPr>
            </a:pPr>
            <a:r>
              <a:rPr sz="1875" b="0">
                <a:solidFill>
                  <a:srgbClr val="CBDBE2"/>
                </a:solidFill>
                <a:latin typeface="Arial"/>
                <a:ea typeface="Arial"/>
                <a:cs typeface="Arial"/>
              </a:rPr>
              <a:t>Clinician usability sessions</a:t>
            </a:r>
          </a:p>
        </p:txBody>
      </p:sp>
      <p:sp>
        <p:nvSpPr>
          <p:cNvPr id="7" name="">
            <a:extLst xmlns:a="http://schemas.openxmlformats.org/drawingml/2006/main">
              <a:ext uri="{FF2B5EF4-FFF2-40B4-BE49-F238E27FC236}">
                <a16:creationId xmlns:a16="http://schemas.microsoft.com/office/drawing/2014/main" id="{ABBE88EC-5905-406C-A47E-E3E34B346DF9}"/>
              </a:ext>
            </a:extLst>
          </p:cNvPr>
          <p:cNvSpPr>
            <a:spLocks xmlns:a="http://schemas.openxmlformats.org/drawingml/2006/main" noGrp="1"/>
          </p:cNvSpPr>
          <p:nvPr/>
        </p:nvSpPr>
        <p:spPr>
          <a:xfrm xmlns:a="http://schemas.openxmlformats.org/drawingml/2006/main">
            <a:off x="3762375" y="2057400"/>
            <a:ext cx="381000" cy="152400"/>
          </a:xfrm>
          <a:prstGeom xmlns:a="http://schemas.openxmlformats.org/drawingml/2006/main" prst="rightArrow">
            <a:avLst/>
          </a:prstGeom>
          <a:solidFill xmlns:a="http://schemas.openxmlformats.org/drawingml/2006/main">
            <a:srgbClr val="51D6C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8A8EE5F-5EB8-468F-ABB0-C2E846C566A9}"/>
              </a:ext>
            </a:extLst>
          </p:cNvPr>
          <p:cNvSpPr>
            <a:spLocks xmlns:a="http://schemas.openxmlformats.org/drawingml/2006/main" noGrp="1"/>
          </p:cNvSpPr>
          <p:nvPr/>
        </p:nvSpPr>
        <p:spPr>
          <a:xfrm xmlns:a="http://schemas.openxmlformats.org/drawingml/2006/main">
            <a:off x="4457700" y="1809750"/>
            <a:ext cx="142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51D6C4"/>
                </a:solidFill>
                <a:latin typeface="Arial"/>
                <a:ea typeface="Arial"/>
                <a:cs typeface="Arial"/>
              </a:defRPr>
            </a:pPr>
            <a:r>
              <a:rPr sz="3600" b="1">
                <a:solidFill>
                  <a:srgbClr val="51D6C4"/>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88DEC615-357A-471C-9FBA-82E0E5AEE41B}"/>
              </a:ext>
            </a:extLst>
          </p:cNvPr>
          <p:cNvSpPr>
            <a:spLocks xmlns:a="http://schemas.openxmlformats.org/drawingml/2006/main" noGrp="1"/>
          </p:cNvSpPr>
          <p:nvPr/>
        </p:nvSpPr>
        <p:spPr>
          <a:xfrm xmlns:a="http://schemas.openxmlformats.org/drawingml/2006/main">
            <a:off x="4457700" y="271462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FFFFFF"/>
                </a:solidFill>
                <a:latin typeface="Arial"/>
                <a:ea typeface="Arial"/>
                <a:cs typeface="Arial"/>
              </a:defRPr>
            </a:pPr>
            <a:r>
              <a:rPr sz="2325" b="1">
                <a:solidFill>
                  <a:srgbClr val="FFFFFF"/>
                </a:solidFill>
                <a:latin typeface="Arial"/>
                <a:ea typeface="Arial"/>
                <a:cs typeface="Arial"/>
              </a:rPr>
              <a:t>Deploy securely</a:t>
            </a:r>
          </a:p>
        </p:txBody>
      </p:sp>
      <p:sp>
        <p:nvSpPr>
          <p:cNvPr id="10" name="">
            <a:extLst xmlns:a="http://schemas.openxmlformats.org/drawingml/2006/main">
              <a:ext uri="{FF2B5EF4-FFF2-40B4-BE49-F238E27FC236}">
                <a16:creationId xmlns:a16="http://schemas.microsoft.com/office/drawing/2014/main" id="{71108D19-1187-4EFB-94CE-4964DC177583}"/>
              </a:ext>
            </a:extLst>
          </p:cNvPr>
          <p:cNvSpPr>
            <a:spLocks xmlns:a="http://schemas.openxmlformats.org/drawingml/2006/main" noGrp="1"/>
          </p:cNvSpPr>
          <p:nvPr/>
        </p:nvSpPr>
        <p:spPr>
          <a:xfrm xmlns:a="http://schemas.openxmlformats.org/drawingml/2006/main">
            <a:off x="4457700" y="3448050"/>
            <a:ext cx="3209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CBDBE2"/>
                </a:solidFill>
                <a:latin typeface="Arial"/>
                <a:ea typeface="Arial"/>
                <a:cs typeface="Arial"/>
              </a:defRPr>
            </a:pPr>
            <a:r>
              <a:rPr sz="1875" b="0">
                <a:solidFill>
                  <a:srgbClr val="CBDBE2"/>
                </a:solidFill>
                <a:latin typeface="Arial"/>
                <a:ea typeface="Arial"/>
                <a:cs typeface="Arial"/>
              </a:rPr>
              <a:t>Hosted model execution</a:t>
            </a:r>
          </a:p>
          <a:p xmlns:a="http://schemas.openxmlformats.org/drawingml/2006/main">
            <a:pPr>
              <a:defRPr sz="1875" b="0">
                <a:solidFill>
                  <a:srgbClr val="CBDBE2"/>
                </a:solidFill>
                <a:latin typeface="Arial"/>
                <a:ea typeface="Arial"/>
                <a:cs typeface="Arial"/>
              </a:defRPr>
            </a:pPr>
            <a:r>
              <a:rPr sz="1875" b="0">
                <a:solidFill>
                  <a:srgbClr val="CBDBE2"/>
                </a:solidFill>
                <a:latin typeface="Arial"/>
                <a:ea typeface="Arial"/>
                <a:cs typeface="Arial"/>
              </a:rPr>
              <a:t>Protected persistent records</a:t>
            </a:r>
          </a:p>
          <a:p xmlns:a="http://schemas.openxmlformats.org/drawingml/2006/main">
            <a:pPr>
              <a:defRPr sz="1875" b="0">
                <a:solidFill>
                  <a:srgbClr val="CBDBE2"/>
                </a:solidFill>
                <a:latin typeface="Arial"/>
                <a:ea typeface="Arial"/>
                <a:cs typeface="Arial"/>
              </a:defRPr>
            </a:pPr>
            <a:r>
              <a:rPr sz="1875" b="0">
                <a:solidFill>
                  <a:srgbClr val="CBDBE2"/>
                </a:solidFill>
                <a:latin typeface="Arial"/>
                <a:ea typeface="Arial"/>
                <a:cs typeface="Arial"/>
              </a:rPr>
              <a:t>Backups and monitoring</a:t>
            </a:r>
          </a:p>
        </p:txBody>
      </p:sp>
      <p:sp>
        <p:nvSpPr>
          <p:cNvPr id="11" name="">
            <a:extLst xmlns:a="http://schemas.openxmlformats.org/drawingml/2006/main">
              <a:ext uri="{FF2B5EF4-FFF2-40B4-BE49-F238E27FC236}">
                <a16:creationId xmlns:a16="http://schemas.microsoft.com/office/drawing/2014/main" id="{064E77C1-166C-489B-881E-4FB19E9C9961}"/>
              </a:ext>
            </a:extLst>
          </p:cNvPr>
          <p:cNvSpPr>
            <a:spLocks xmlns:a="http://schemas.openxmlformats.org/drawingml/2006/main" noGrp="1"/>
          </p:cNvSpPr>
          <p:nvPr/>
        </p:nvSpPr>
        <p:spPr>
          <a:xfrm xmlns:a="http://schemas.openxmlformats.org/drawingml/2006/main">
            <a:off x="7610475" y="2057400"/>
            <a:ext cx="381000" cy="152400"/>
          </a:xfrm>
          <a:prstGeom xmlns:a="http://schemas.openxmlformats.org/drawingml/2006/main" prst="rightArrow">
            <a:avLst/>
          </a:prstGeom>
          <a:solidFill xmlns:a="http://schemas.openxmlformats.org/drawingml/2006/main">
            <a:srgbClr val="51D6C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794AC0F-83B9-434B-800A-DB470FC259EB}"/>
              </a:ext>
            </a:extLst>
          </p:cNvPr>
          <p:cNvSpPr>
            <a:spLocks xmlns:a="http://schemas.openxmlformats.org/drawingml/2006/main" noGrp="1"/>
          </p:cNvSpPr>
          <p:nvPr/>
        </p:nvSpPr>
        <p:spPr>
          <a:xfrm xmlns:a="http://schemas.openxmlformats.org/drawingml/2006/main">
            <a:off x="8305800" y="1809750"/>
            <a:ext cx="142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51D6C4"/>
                </a:solidFill>
                <a:latin typeface="Arial"/>
                <a:ea typeface="Arial"/>
                <a:cs typeface="Arial"/>
              </a:defRPr>
            </a:pPr>
            <a:r>
              <a:rPr sz="3600" b="1">
                <a:solidFill>
                  <a:srgbClr val="51D6C4"/>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CE912DF3-9F16-4AB1-82E2-E108F92E6A03}"/>
              </a:ext>
            </a:extLst>
          </p:cNvPr>
          <p:cNvSpPr>
            <a:spLocks xmlns:a="http://schemas.openxmlformats.org/drawingml/2006/main" noGrp="1"/>
          </p:cNvSpPr>
          <p:nvPr/>
        </p:nvSpPr>
        <p:spPr>
          <a:xfrm xmlns:a="http://schemas.openxmlformats.org/drawingml/2006/main">
            <a:off x="8305800" y="271462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FFFFFF"/>
                </a:solidFill>
                <a:latin typeface="Arial"/>
                <a:ea typeface="Arial"/>
                <a:cs typeface="Arial"/>
              </a:defRPr>
            </a:pPr>
            <a:r>
              <a:rPr sz="2325" b="1">
                <a:solidFill>
                  <a:srgbClr val="FFFFFF"/>
                </a:solidFill>
                <a:latin typeface="Arial"/>
                <a:ea typeface="Arial"/>
                <a:cs typeface="Arial"/>
              </a:rPr>
              <a:t>Pilot and learn</a:t>
            </a:r>
          </a:p>
        </p:txBody>
      </p:sp>
      <p:sp>
        <p:nvSpPr>
          <p:cNvPr id="14" name="">
            <a:extLst xmlns:a="http://schemas.openxmlformats.org/drawingml/2006/main">
              <a:ext uri="{FF2B5EF4-FFF2-40B4-BE49-F238E27FC236}">
                <a16:creationId xmlns:a16="http://schemas.microsoft.com/office/drawing/2014/main" id="{C3B5ACF3-AD9F-44A6-9EE3-26C86067824D}"/>
              </a:ext>
            </a:extLst>
          </p:cNvPr>
          <p:cNvSpPr>
            <a:spLocks xmlns:a="http://schemas.openxmlformats.org/drawingml/2006/main" noGrp="1"/>
          </p:cNvSpPr>
          <p:nvPr/>
        </p:nvSpPr>
        <p:spPr>
          <a:xfrm xmlns:a="http://schemas.openxmlformats.org/drawingml/2006/main">
            <a:off x="8305800" y="3448050"/>
            <a:ext cx="32099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CBDBE2"/>
                </a:solidFill>
                <a:latin typeface="Arial"/>
                <a:ea typeface="Arial"/>
                <a:cs typeface="Arial"/>
              </a:defRPr>
            </a:pPr>
            <a:r>
              <a:rPr sz="1875" b="0">
                <a:solidFill>
                  <a:srgbClr val="CBDBE2"/>
                </a:solidFill>
                <a:latin typeface="Arial"/>
                <a:ea typeface="Arial"/>
                <a:cs typeface="Arial"/>
              </a:rPr>
              <a:t>Small clinic partnership</a:t>
            </a:r>
          </a:p>
          <a:p xmlns:a="http://schemas.openxmlformats.org/drawingml/2006/main">
            <a:pPr>
              <a:defRPr sz="1875" b="0">
                <a:solidFill>
                  <a:srgbClr val="CBDBE2"/>
                </a:solidFill>
                <a:latin typeface="Arial"/>
                <a:ea typeface="Arial"/>
                <a:cs typeface="Arial"/>
              </a:defRPr>
            </a:pPr>
            <a:r>
              <a:rPr sz="1875" b="0">
                <a:solidFill>
                  <a:srgbClr val="CBDBE2"/>
                </a:solidFill>
                <a:latin typeface="Arial"/>
                <a:ea typeface="Arial"/>
                <a:cs typeface="Arial"/>
              </a:rPr>
              <a:t>Review-time measurement</a:t>
            </a:r>
          </a:p>
          <a:p xmlns:a="http://schemas.openxmlformats.org/drawingml/2006/main">
            <a:pPr>
              <a:defRPr sz="1875" b="0">
                <a:solidFill>
                  <a:srgbClr val="CBDBE2"/>
                </a:solidFill>
                <a:latin typeface="Arial"/>
                <a:ea typeface="Arial"/>
                <a:cs typeface="Arial"/>
              </a:defRPr>
            </a:pPr>
            <a:r>
              <a:rPr sz="1875" b="0">
                <a:solidFill>
                  <a:srgbClr val="CBDBE2"/>
                </a:solidFill>
                <a:latin typeface="Arial"/>
                <a:ea typeface="Arial"/>
                <a:cs typeface="Arial"/>
              </a:rPr>
              <a:t>Follow-up completion</a:t>
            </a:r>
          </a:p>
        </p:txBody>
      </p:sp>
      <p:sp>
        <p:nvSpPr>
          <p:cNvPr id="15" name="">
            <a:extLst xmlns:a="http://schemas.openxmlformats.org/drawingml/2006/main">
              <a:ext uri="{FF2B5EF4-FFF2-40B4-BE49-F238E27FC236}">
                <a16:creationId xmlns:a16="http://schemas.microsoft.com/office/drawing/2014/main" id="{4FC939B8-B051-4487-B574-C91416C81E1A}"/>
              </a:ext>
            </a:extLst>
          </p:cNvPr>
          <p:cNvSpPr>
            <a:spLocks xmlns:a="http://schemas.openxmlformats.org/drawingml/2006/main" noGrp="1"/>
          </p:cNvSpPr>
          <p:nvPr/>
        </p:nvSpPr>
        <p:spPr>
          <a:xfrm xmlns:a="http://schemas.openxmlformats.org/drawingml/2006/main">
            <a:off x="609600" y="5162550"/>
            <a:ext cx="10972800" cy="0"/>
          </a:xfrm>
          <a:prstGeom xmlns:a="http://schemas.openxmlformats.org/drawingml/2006/main" prst="line">
            <a:avLst/>
          </a:prstGeom>
          <a:noFill xmlns:a="http://schemas.openxmlformats.org/drawingml/2006/main"/>
          <a:ln xmlns:a="http://schemas.openxmlformats.org/drawingml/2006/main" w="14288">
            <a:solidFill>
              <a:srgbClr val="3C5564"/>
            </a:solidFill>
          </a:ln>
        </p:spPr>
      </p:sp>
      <p:sp>
        <p:nvSpPr>
          <p:cNvPr id="16" name="">
            <a:extLst xmlns:a="http://schemas.openxmlformats.org/drawingml/2006/main">
              <a:ext uri="{FF2B5EF4-FFF2-40B4-BE49-F238E27FC236}">
                <a16:creationId xmlns:a16="http://schemas.microsoft.com/office/drawing/2014/main" id="{71291364-9C09-46B5-81B1-0DAF93C12075}"/>
              </a:ext>
            </a:extLst>
          </p:cNvPr>
          <p:cNvSpPr>
            <a:spLocks xmlns:a="http://schemas.openxmlformats.org/drawingml/2006/main" noGrp="1"/>
          </p:cNvSpPr>
          <p:nvPr/>
        </p:nvSpPr>
        <p:spPr>
          <a:xfrm xmlns:a="http://schemas.openxmlformats.org/drawingml/2006/main">
            <a:off x="609600" y="5505450"/>
            <a:ext cx="200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1">
                <a:solidFill>
                  <a:srgbClr val="51D6C4"/>
                </a:solidFill>
                <a:latin typeface="Arial"/>
                <a:ea typeface="Arial"/>
                <a:cs typeface="Arial"/>
              </a:defRPr>
            </a:pPr>
            <a:r>
              <a:rPr sz="1575" b="1">
                <a:solidFill>
                  <a:srgbClr val="51D6C4"/>
                </a:solidFill>
                <a:latin typeface="Arial"/>
                <a:ea typeface="Arial"/>
                <a:cs typeface="Arial"/>
              </a:rPr>
              <a:t>OUR ASK</a:t>
            </a:r>
          </a:p>
        </p:txBody>
      </p:sp>
      <p:sp>
        <p:nvSpPr>
          <p:cNvPr id="17" name="">
            <a:extLst xmlns:a="http://schemas.openxmlformats.org/drawingml/2006/main">
              <a:ext uri="{FF2B5EF4-FFF2-40B4-BE49-F238E27FC236}">
                <a16:creationId xmlns:a16="http://schemas.microsoft.com/office/drawing/2014/main" id="{B406A52D-5ADB-42F1-BA50-41119E7B9B6F}"/>
              </a:ext>
            </a:extLst>
          </p:cNvPr>
          <p:cNvSpPr>
            <a:spLocks xmlns:a="http://schemas.openxmlformats.org/drawingml/2006/main" noGrp="1"/>
          </p:cNvSpPr>
          <p:nvPr/>
        </p:nvSpPr>
        <p:spPr>
          <a:xfrm xmlns:a="http://schemas.openxmlformats.org/drawingml/2006/main">
            <a:off x="2686050" y="5448300"/>
            <a:ext cx="88963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FFFFFF"/>
                </a:solidFill>
                <a:latin typeface="Arial"/>
                <a:ea typeface="Arial"/>
                <a:cs typeface="Arial"/>
              </a:defRPr>
            </a:pPr>
            <a:r>
              <a:rPr sz="2325" b="1">
                <a:solidFill>
                  <a:srgbClr val="FFFFFF"/>
                </a:solidFill>
                <a:latin typeface="Arial"/>
                <a:ea typeface="Arial"/>
                <a:cs typeface="Arial"/>
              </a:rPr>
              <a:t>Clinical mentorship, a pilot partner and compute support</a:t>
            </a:r>
          </a:p>
        </p:txBody>
      </p:sp>
    </p:spTree>
    <p:extLst>
      <p:ext uri="{BB962C8B-B14F-4D97-AF65-F5344CB8AC3E}">
        <p14:creationId xmlns:p14="http://schemas.microsoft.com/office/powerpoint/2010/main" val="1773338279"/>
      </p:ext>
    </p:extLst>
  </p:cSld>
</p:sld>
</file>

<file path=ppt/slides/slide11.xml><?xml version="1.0" encoding="utf-8"?>
<ns0:sld xmlns:a="http://schemas.openxmlformats.org/drawingml/2006/main" xmlns:ns0="http://schemas.openxmlformats.org/presentationml/2006/main" xmlns:ns2="http://schemas.microsoft.com/office/drawing/2014/main" xmlns:ns4="http://schemas.microsoft.com/office/powerpoint/2010/main" xmlns:r="http://schemas.openxmlformats.org/officeDocument/2006/relationships">
  <ns0:cSld>
    <ns0:bg>
      <ns0:bgPr>
        <a:solidFill>
          <a:srgbClr val="0A192B"/>
        </a:solidFill>
      </ns0:bgPr>
    </ns0:bg>
    <ns0:spTree>
      <ns0:nvGrpSpPr>
        <ns0:cNvPr id="1" name=""/>
        <ns0:cNvGrpSpPr/>
        <ns0:nvPr/>
      </ns0:nvGrpSpPr>
      <ns0:grpSpPr>
        <a:xfrm/>
      </ns0:grpSpPr>
      <ns0:sp>
        <ns0:nvSpPr>
          <ns0:cNvPr id="15" name="">
            <a:extLst>
              <a:ext uri="{FF2B5EF4-FFF2-40B4-BE49-F238E27FC236}">
                <ns2:creationId id="{57C89690-441A-4CC1-8E25-F4DABD3078B3}"/>
              </a:ext>
            </a:extLst>
          </ns0:cNvPr>
          <ns0:cNvSpPr>
            <a:spLocks noGrp="1"/>
          </ns0:cNvSpPr>
          <ns0:nvPr/>
        </ns0:nvSpPr>
        <ns0:spPr>
          <a:xfrm>
            <a:off x="609600" y="428625"/>
            <a:ext cx="10934700" cy="857250"/>
          </a:xfrm>
          <a:prstGeom prst="rect">
            <a:avLst/>
          </a:prstGeom>
          <a:noFill/>
          <a:ln w="0">
            <a:noFill/>
          </a:ln>
        </ns0:spPr>
        <ns0:txBody>
          <a:bodyPr lIns="0" tIns="0" rIns="0" bIns="0">
            <a:noAutofit/>
          </a:bodyPr>
          <a:lstStyle/>
          <a:p>
            <a:pPr>
              <a:defRPr sz="3300" b="1">
                <a:solidFill>
                  <a:srgbClr val="FFFFFF"/>
                </a:solidFill>
                <a:latin typeface="Arial"/>
                <a:ea typeface="Arial"/>
                <a:cs typeface="Arial"/>
              </a:defRPr>
            </a:pPr>
            <a:r>
              <a:rPr sz="3300" b="1">
                <a:solidFill>
                  <a:srgbClr val="FFFFFF"/>
                </a:solidFill>
                <a:latin typeface="Arial"/>
                <a:ea typeface="Arial"/>
                <a:cs typeface="Arial"/>
              </a:rPr>
              <a:t>Thank You Slide</a:t>
            </a:r>
          </a:p>
        </ns0:txBody>
      </ns0:sp>
      <ns0:sp>
        <ns0:nvSpPr>
          <ns0:cNvPr id="2" name="">
            <a:extLst>
              <a:ext uri="{FF2B5EF4-FFF2-40B4-BE49-F238E27FC236}">
                <ns2:creationId id="{30657299-53FC-4BFA-A830-24903ED7A9FA}"/>
              </a:ext>
            </a:extLst>
          </ns0:cNvPr>
          <ns0:cNvSpPr>
            <a:spLocks noGrp="1"/>
          </ns0:cNvSpPr>
          <ns0:nvPr/>
        </ns0:nvSpPr>
        <ns0:spPr>
          <a:xfrm>
            <a:off x="609600" y="6429375"/>
            <a:ext cx="6191250" cy="209550"/>
          </a:xfrm>
          <a:prstGeom prst="rect">
            <a:avLst/>
          </a:prstGeom>
          <a:noFill/>
          <a:ln w="0">
            <a:noFill/>
          </a:ln>
        </ns0:spPr>
        <ns0:txBody>
          <a:bodyPr lIns="0" tIns="0" rIns="0" bIns="0">
            <a:noAutofit/>
          </a:bodyPr>
          <a:lstStyle/>
          <a:p>
            <a:pPr>
              <a:defRPr sz="1200" b="0">
                <a:solidFill>
                  <a:srgbClr val="9DB3C0"/>
                </a:solidFill>
                <a:latin typeface="Arial"/>
                <a:ea typeface="Arial"/>
                <a:cs typeface="Arial"/>
              </a:defRPr>
            </a:pPr>
            <a:r>
              <a:rPr sz="1200" b="0">
                <a:solidFill>
                  <a:srgbClr val="9DB3C0"/>
                </a:solidFill>
                <a:latin typeface="Arial"/>
                <a:ea typeface="Arial"/>
                <a:cs typeface="Arial"/>
              </a:rPr>
              <a:t>OncoCatch  /  AuraMed</a:t>
            </a:r>
          </a:p>
        </ns0:txBody>
      </ns0:sp>
      <ns0:sp>
        <ns0:nvSpPr>
          <ns0:cNvPr id="3" name="">
            <a:extLst>
              <a:ext uri="{FF2B5EF4-FFF2-40B4-BE49-F238E27FC236}">
                <ns2:creationId id="{E392E7E4-0082-42C7-9050-2C1B72C72F92}"/>
              </a:ext>
            </a:extLst>
          </ns0:cNvPr>
          <ns0:cNvSpPr>
            <a:spLocks noGrp="1"/>
          </ns0:cNvSpPr>
          <ns0:nvPr/>
        </ns0:nvSpPr>
        <ns0:spPr>
          <a:xfrm>
            <a:off x="10668000" y="6429375"/>
            <a:ext cx="952500" cy="209550"/>
          </a:xfrm>
          <a:prstGeom prst="rect">
            <a:avLst/>
          </a:prstGeom>
          <a:noFill/>
          <a:ln w="0">
            <a:noFill/>
          </a:ln>
        </ns0:spPr>
        <ns0:txBody>
          <a:bodyPr lIns="0" tIns="0" rIns="0" bIns="0">
            <a:noAutofit/>
          </a:bodyPr>
          <a:lstStyle/>
          <a:p>
            <a:pPr>
              <a:defRPr sz="1200" b="0">
                <a:solidFill>
                  <a:srgbClr val="9DB3C0"/>
                </a:solidFill>
                <a:latin typeface="Arial"/>
                <a:ea typeface="Arial"/>
                <a:cs typeface="Arial"/>
              </a:defRPr>
            </a:pPr>
            <a:r>
              <a:rPr sz="1200" b="0">
                <a:solidFill>
                  <a:srgbClr val="9DB3C0"/>
                </a:solidFill>
                <a:latin typeface="Arial"/>
                <a:ea typeface="Arial"/>
                <a:cs typeface="Arial"/>
              </a:rPr>
              <a:t>11 / 11</a:t>
            </a:r>
          </a:p>
        </ns0:txBody>
      </ns0:sp>
      <ns0:sp>
        <ns0:nvSpPr>
          <ns0:cNvPr id="4" name="">
            <a:extLst>
              <a:ext uri="{FF2B5EF4-FFF2-40B4-BE49-F238E27FC236}">
                <ns2:creationId id="{9F58A554-97D6-4B33-A587-0D2B338E26A7}"/>
              </a:ext>
            </a:extLst>
          </ns0:cNvPr>
          <ns0:cNvSpPr>
            <a:spLocks noGrp="1"/>
          </ns0:cNvSpPr>
          <ns0:nvPr/>
        </ns0:nvSpPr>
        <ns0:spPr>
          <a:xfrm>
            <a:off x="609600" y="1781175"/>
            <a:ext cx="10668000" cy="952500"/>
          </a:xfrm>
          <a:prstGeom prst="rect">
            <a:avLst/>
          </a:prstGeom>
          <a:noFill/>
          <a:ln w="0">
            <a:noFill/>
          </a:ln>
        </ns0:spPr>
        <ns0:txBody>
          <a:bodyPr lIns="0" tIns="0" rIns="0" bIns="0">
            <a:noAutofit/>
          </a:bodyPr>
          <a:lstStyle/>
          <a:p>
            <a:pPr>
              <a:defRPr sz="5700" b="1">
                <a:solidFill>
                  <a:srgbClr val="FFFFFF"/>
                </a:solidFill>
                <a:latin typeface="Arial"/>
                <a:ea typeface="Arial"/>
                <a:cs typeface="Arial"/>
              </a:defRPr>
            </a:pPr>
            <a:r>
              <a:rPr sz="5700" b="1">
                <a:solidFill>
                  <a:srgbClr val="FFFFFF"/>
                </a:solidFill>
                <a:latin typeface="Arial"/>
                <a:ea typeface="Arial"/>
                <a:cs typeface="Arial"/>
              </a:rPr>
              <a:t>AuraMed</a:t>
            </a:r>
          </a:p>
        </ns0:txBody>
      </ns0:sp>
      <ns0:sp>
        <ns0:nvSpPr>
          <ns0:cNvPr id="5" name="">
            <a:extLst>
              <a:ext uri="{FF2B5EF4-FFF2-40B4-BE49-F238E27FC236}">
                <ns2:creationId id="{98A5247C-02E0-4546-9A45-FF97EEFCCA49}"/>
              </a:ext>
            </a:extLst>
          </ns0:cNvPr>
          <ns0:cNvSpPr>
            <a:spLocks noGrp="1"/>
          </ns0:cNvSpPr>
          <ns0:nvPr/>
        </ns0:nvSpPr>
        <ns0:spPr>
          <a:xfrm>
            <a:off x="609600" y="2971800"/>
            <a:ext cx="10934700" cy="619125"/>
          </a:xfrm>
          <a:prstGeom prst="rect">
            <a:avLst/>
          </a:prstGeom>
          <a:noFill/>
          <a:ln w="0">
            <a:noFill/>
          </a:ln>
        </ns0:spPr>
        <ns0:txBody>
          <a:bodyPr lIns="0" tIns="0" rIns="0" bIns="0">
            <a:noAutofit/>
          </a:bodyPr>
          <a:lstStyle/>
          <a:p>
            <a:pPr>
              <a:defRPr sz="2625" b="0">
                <a:solidFill>
                  <a:srgbClr val="51D6C4"/>
                </a:solidFill>
                <a:latin typeface="Arial"/>
                <a:ea typeface="Arial"/>
                <a:cs typeface="Arial"/>
              </a:defRPr>
            </a:pPr>
            <a:r>
              <a:rPr sz="2625" b="0">
                <a:solidFill>
                  <a:srgbClr val="51D6C4"/>
                </a:solidFill>
                <a:latin typeface="Arial"/>
                <a:ea typeface="Arial"/>
                <a:cs typeface="Arial"/>
              </a:rPr>
              <a:t>Clinical decision support for women’s health</a:t>
            </a:r>
          </a:p>
        </ns0:txBody>
      </ns0:sp>
      <ns0:sp>
        <ns0:nvSpPr>
          <ns0:cNvPr id="6" name="">
            <a:extLst>
              <a:ext uri="{FF2B5EF4-FFF2-40B4-BE49-F238E27FC236}">
                <ns2:creationId id="{A2FA0730-B8C6-46DB-BEF0-236D8EBFBBBD}"/>
              </a:ext>
            </a:extLst>
          </ns0:cNvPr>
          <ns0:cNvSpPr>
            <a:spLocks noGrp="1"/>
          </ns0:cNvSpPr>
          <ns0:nvPr/>
        </ns0:nvSpPr>
        <ns0:spPr>
          <a:xfrm>
            <a:off x="609600" y="3905250"/>
            <a:ext cx="10934700" cy="495300"/>
          </a:xfrm>
          <a:prstGeom prst="rect">
            <a:avLst/>
          </a:prstGeom>
          <a:noFill/>
          <a:ln w="0">
            <a:noFill/>
          </a:ln>
        </ns0:spPr>
        <ns0:txBody>
          <a:bodyPr lIns="0" tIns="0" rIns="0" bIns="0">
            <a:noAutofit/>
          </a:bodyPr>
          <a:lstStyle/>
          <a:p>
            <a:pPr>
              <a:defRPr sz="2250" b="0">
                <a:solidFill>
                  <a:srgbClr val="FFFFFF"/>
                </a:solidFill>
                <a:latin typeface="Arial"/>
                <a:ea typeface="Arial"/>
                <a:cs typeface="Arial"/>
              </a:defRPr>
            </a:pPr>
            <a:r>
              <a:rPr sz="2250" b="0">
                <a:solidFill>
                  <a:srgbClr val="FFFFFF"/>
                </a:solidFill>
                <a:latin typeface="Arial"/>
                <a:ea typeface="Arial"/>
                <a:cs typeface="Arial"/>
              </a:rPr>
              <a:t>Team OncoCatch  ·  Team lead: S Shriram</a:t>
            </a:r>
          </a:p>
        </ns0:txBody>
      </ns0:sp>
      <ns0:sp>
        <ns0:nvSpPr>
          <ns0:cNvPr id="7" name="">
            <a:extLst>
              <a:ext uri="{FF2B5EF4-FFF2-40B4-BE49-F238E27FC236}">
                <ns2:creationId id="{2C32E160-A534-4551-BFD9-862D01D974F6}"/>
              </a:ext>
            </a:extLst>
          </ns0:cNvPr>
          <ns0:cNvSpPr>
            <a:spLocks noGrp="1"/>
          </ns0:cNvSpPr>
          <ns0:nvPr/>
        </ns0:nvSpPr>
        <ns0:spPr>
          <a:xfrm>
            <a:off x="609600" y="4543425"/>
            <a:ext cx="6191250" cy="333375"/>
          </a:xfrm>
          <a:prstGeom prst="rect">
            <a:avLst/>
          </a:prstGeom>
          <a:noFill/>
          <a:ln w="0">
            <a:noFill/>
          </a:ln>
        </ns0:spPr>
        <ns0:txBody>
          <a:bodyPr lIns="0" tIns="0" rIns="0" bIns="0">
            <a:noAutofit/>
          </a:bodyPr>
          <a:lstStyle/>
          <a:p>
            <a:pPr>
              <a:defRPr sz="1875" b="0">
                <a:solidFill>
                  <a:srgbClr val="51D6C4"/>
                </a:solidFill>
                <a:latin typeface="Arial"/>
                <a:ea typeface="Arial"/>
                <a:cs typeface="Arial"/>
              </a:defRPr>
            </a:pPr>
            <a:r>
              <a:rPr sz="1875" b="0">
                <a:solidFill>
                  <a:srgbClr val="51D6C4"/>
                </a:solidFill>
                <a:latin typeface="Arial"/>
                <a:ea typeface="Arial"/>
                <a:cs typeface="Arial"/>
                <a:hlinkClick r:id="rIdAuraMedLink2"/>
              </a:rPr>
              <a:t>shriram0981234@gmail.com</a:t>
            </a:r>
          </a:p>
        </ns0:txBody>
      </ns0:sp>
      <ns0:sp>
        <ns0:nvSpPr>
          <ns0:cNvPr id="8" name="">
            <a:extLst>
              <a:ext uri="{FF2B5EF4-FFF2-40B4-BE49-F238E27FC236}">
                <ns2:creationId id="{7E631B7E-41F8-4E56-B325-3558E9B36F79}"/>
              </a:ext>
            </a:extLst>
          </ns0:cNvPr>
          <ns0:cNvSpPr>
            <a:spLocks noGrp="1"/>
          </ns0:cNvSpPr>
          <ns0:nvPr/>
        </ns0:nvSpPr>
        <ns0:spPr>
          <a:xfrm>
            <a:off x="609600" y="4933950"/>
            <a:ext cx="6191250" cy="333375"/>
          </a:xfrm>
          <a:prstGeom prst="rect">
            <a:avLst/>
          </a:prstGeom>
          <a:noFill/>
          <a:ln w="0">
            <a:noFill/>
          </a:ln>
        </ns0:spPr>
        <ns0:txBody>
          <a:bodyPr lIns="0" tIns="0" rIns="0" bIns="0">
            <a:noAutofit/>
          </a:bodyPr>
          <a:lstStyle/>
          <a:p>
            <a:pPr>
              <a:defRPr sz="1875" b="0">
                <a:solidFill>
                  <a:srgbClr val="FFFFFF"/>
                </a:solidFill>
                <a:latin typeface="Arial"/>
                <a:ea typeface="Arial"/>
                <a:cs typeface="Arial"/>
              </a:defRPr>
            </a:pPr>
            <a:r>
              <a:rPr sz="1875" b="0">
                <a:solidFill>
                  <a:srgbClr val="FFFFFF"/>
                </a:solidFill>
                <a:latin typeface="Arial"/>
                <a:ea typeface="Arial"/>
                <a:cs typeface="Arial"/>
              </a:rPr>
              <a:t>Phone: 9345598380</a:t>
            </a:r>
          </a:p>
        </ns0:txBody>
      </ns0:sp>
      <ns0:sp>
        <ns0:nvSpPr>
          <ns0:cNvPr id="9" name="">
            <a:extLst>
              <a:ext uri="{FF2B5EF4-FFF2-40B4-BE49-F238E27FC236}">
                <ns2:creationId id="{610D0EED-C6BD-4E89-9BD0-79CA2C5B5DE2}"/>
              </a:ext>
            </a:extLst>
          </ns0:cNvPr>
          <ns0:cNvSpPr>
            <a:spLocks noGrp="1"/>
          </ns0:cNvSpPr>
          <ns0:nvPr/>
        </ns0:nvSpPr>
        <ns0:spPr>
          <a:xfrm>
            <a:off x="609600" y="5362575"/>
            <a:ext cx="6858000" cy="352425"/>
          </a:xfrm>
          <a:prstGeom prst="rect">
            <a:avLst/>
          </a:prstGeom>
          <a:noFill/>
          <a:ln w="0">
            <a:noFill/>
          </a:ln>
        </ns0:spPr>
        <ns0:txBody>
          <a:bodyPr lIns="0" tIns="0" rIns="0" bIns="0">
            <a:noAutofit/>
          </a:bodyPr>
          <a:lstStyle/>
          <a:p>
            <a:pPr>
              <a:defRPr sz="1725" b="0">
                <a:solidFill>
                  <a:srgbClr val="CBDBE2"/>
                </a:solidFill>
                <a:latin typeface="Arial"/>
                <a:ea typeface="Arial"/>
                <a:cs typeface="Arial"/>
              </a:defRPr>
            </a:pPr>
            <a:r>
              <a:rPr sz="1725" b="0">
                <a:solidFill>
                  <a:srgbClr val="CBDBE2"/>
                </a:solidFill>
                <a:latin typeface="Arial"/>
                <a:ea typeface="Arial"/>
                <a:cs typeface="Arial"/>
              </a:rPr>
              <a:t>Thank you to our judges, mentors and organizers.</a:t>
            </a:r>
          </a:p>
        </ns0:txBody>
      </ns0:sp>
      <ns0:sp>
        <ns0:nvSpPr>
          <ns0:cNvPr id="10" name="">
            <a:extLst>
              <a:ext uri="{FF2B5EF4-FFF2-40B4-BE49-F238E27FC236}">
                <ns2:creationId id="{EDEFB95F-D502-47E1-BB2C-D32ADAFC87A8}"/>
              </a:ext>
            </a:extLst>
          </ns0:cNvPr>
          <ns0:cNvSpPr>
            <a:spLocks noGrp="1"/>
          </ns0:cNvSpPr>
          <ns0:nvPr/>
        </ns0:nvSpPr>
        <ns0:spPr>
          <a:xfrm>
            <a:off x="609600" y="5810250"/>
            <a:ext cx="6477000" cy="438150"/>
          </a:xfrm>
          <a:prstGeom prst="rect">
            <a:avLst/>
          </a:prstGeom>
          <a:noFill/>
          <a:ln w="0">
            <a:noFill/>
          </a:ln>
        </ns0:spPr>
        <ns0:txBody>
          <a:bodyPr lIns="0" tIns="0" rIns="0" bIns="0">
            <a:noAutofit/>
          </a:bodyPr>
          <a:lstStyle/>
          <a:p>
            <a:pPr>
              <a:defRPr sz="2325" b="1">
                <a:solidFill>
                  <a:srgbClr val="FFFFFF"/>
                </a:solidFill>
                <a:latin typeface="Arial"/>
                <a:ea typeface="Arial"/>
                <a:cs typeface="Arial"/>
              </a:defRPr>
            </a:pPr>
            <a:r>
              <a:rPr sz="2325" b="1">
                <a:solidFill>
                  <a:srgbClr val="FFFFFF"/>
                </a:solidFill>
                <a:latin typeface="Arial"/>
                <a:ea typeface="Arial"/>
                <a:cs typeface="Arial"/>
              </a:rPr>
              <a:t>Questions welcome</a:t>
            </a:r>
          </a:p>
        </ns0:txBody>
      </ns0:sp>
      <ns0:sp>
        <ns0:nvSpPr>
          <ns0:cNvPr id="11" name="">
            <a:extLst>
              <a:ext uri="{FF2B5EF4-FFF2-40B4-BE49-F238E27FC236}">
                <ns2:creationId id="{8480348C-436E-481D-A22C-1F9294436889}"/>
              </a:ext>
            </a:extLst>
          </ns0:cNvPr>
          <ns0:cNvSpPr>
            <a:spLocks noGrp="1"/>
          </ns0:cNvSpPr>
          <ns0:nvPr/>
        </ns0:nvSpPr>
        <ns0:spPr>
          <a:xfrm>
            <a:off x="7905750" y="4514850"/>
            <a:ext cx="3714750" cy="285750"/>
          </a:xfrm>
          <a:prstGeom prst="rect">
            <a:avLst/>
          </a:prstGeom>
          <a:noFill/>
          <a:ln w="0">
            <a:noFill/>
          </a:ln>
        </ns0:spPr>
        <ns0:txBody>
          <a:bodyPr lIns="0" tIns="0" rIns="0" bIns="0">
            <a:noAutofit/>
          </a:bodyPr>
          <a:lstStyle/>
          <a:p>
            <a:pPr>
              <a:defRPr sz="1650" b="0">
                <a:solidFill>
                  <a:srgbClr val="CBDBE2"/>
                </a:solidFill>
                <a:latin typeface="Arial"/>
                <a:ea typeface="Arial"/>
                <a:cs typeface="Arial"/>
              </a:defRPr>
            </a:pPr>
            <a:r>
              <a:rPr sz="1650" b="0">
                <a:solidFill>
                  <a:srgbClr val="CBDBE2"/>
                </a:solidFill>
                <a:latin typeface="Arial"/>
                <a:ea typeface="Arial"/>
                <a:cs typeface="Arial"/>
              </a:rPr>
              <a:t>Public prototype</a:t>
            </a:r>
          </a:p>
        </ns0:txBody>
      </ns0:sp>
      <ns0:sp>
        <ns0:nvSpPr>
          <ns0:cNvPr id="12" name="">
            <a:extLst>
              <a:ext uri="{FF2B5EF4-FFF2-40B4-BE49-F238E27FC236}">
                <ns2:creationId id="{F558B646-4C2C-49FE-AB44-FE359EA9333C}"/>
              </a:ext>
            </a:extLst>
          </ns0:cNvPr>
          <ns0:cNvSpPr>
            <a:spLocks noGrp="1"/>
          </ns0:cNvSpPr>
          <ns0:nvPr/>
        </ns0:nvSpPr>
        <ns0:spPr>
          <a:xfrm>
            <a:off x="7905750" y="4867275"/>
            <a:ext cx="3714750" cy="333375"/>
          </a:xfrm>
          <a:prstGeom prst="rect">
            <a:avLst/>
          </a:prstGeom>
          <a:noFill/>
          <a:ln w="0">
            <a:noFill/>
          </a:ln>
        </ns0:spPr>
        <ns0:txBody>
          <a:bodyPr lIns="0" tIns="0" rIns="0" bIns="0">
            <a:noAutofit/>
          </a:bodyPr>
          <a:lstStyle/>
          <a:p>
            <a:pPr>
              <a:defRPr sz="1800" b="0">
                <a:solidFill>
                  <a:srgbClr val="51D6C4"/>
                </a:solidFill>
                <a:latin typeface="Arial"/>
                <a:ea typeface="Arial"/>
                <a:cs typeface="Arial"/>
              </a:defRPr>
            </a:pPr>
            <a:r>
              <a:rPr sz="1800" b="0">
                <a:solidFill>
                  <a:srgbClr val="51D6C4"/>
                </a:solidFill>
                <a:latin typeface="Arial"/>
                <a:ea typeface="Arial"/>
                <a:cs typeface="Arial"/>
                <a:hlinkClick r:id="rIdAuraMedLink3"/>
              </a:rPr>
              <a:t>auramed-theta.vercel.app</a:t>
            </a:r>
          </a:p>
        </ns0:txBody>
      </ns0:sp>
      <ns0:sp>
        <ns0:nvSpPr>
          <ns0:cNvPr id="13" name="">
            <a:extLst>
              <a:ext uri="{FF2B5EF4-FFF2-40B4-BE49-F238E27FC236}">
                <ns2:creationId id="{BD1691A3-EC70-40C7-A5DC-6FC0828EC5A9}"/>
              </a:ext>
            </a:extLst>
          </ns0:cNvPr>
          <ns0:cNvSpPr>
            <a:spLocks noGrp="1"/>
          </ns0:cNvSpPr>
          <ns0:nvPr/>
        </ns0:nvSpPr>
        <ns0:spPr>
          <a:xfrm>
            <a:off x="7905750" y="5343525"/>
            <a:ext cx="3714750" cy="285750"/>
          </a:xfrm>
          <a:prstGeom prst="rect">
            <a:avLst/>
          </a:prstGeom>
          <a:noFill/>
          <a:ln w="0">
            <a:noFill/>
          </a:ln>
        </ns0:spPr>
        <ns0:txBody>
          <a:bodyPr lIns="0" tIns="0" rIns="0" bIns="0">
            <a:noAutofit/>
          </a:bodyPr>
          <a:lstStyle/>
          <a:p>
            <a:pPr>
              <a:defRPr sz="1650" b="0">
                <a:solidFill>
                  <a:srgbClr val="CBDBE2"/>
                </a:solidFill>
                <a:latin typeface="Arial"/>
                <a:ea typeface="Arial"/>
                <a:cs typeface="Arial"/>
              </a:defRPr>
            </a:pPr>
            <a:r>
              <a:rPr sz="1650" b="0">
                <a:solidFill>
                  <a:srgbClr val="CBDBE2"/>
                </a:solidFill>
                <a:latin typeface="Arial"/>
                <a:ea typeface="Arial"/>
                <a:cs typeface="Arial"/>
              </a:rPr>
              <a:t>Recorded demo</a:t>
            </a:r>
          </a:p>
        </ns0:txBody>
      </ns0:sp>
      <ns0:sp>
        <ns0:nvSpPr>
          <ns0:cNvPr id="14" name="">
            <a:extLst>
              <a:ext uri="{FF2B5EF4-FFF2-40B4-BE49-F238E27FC236}">
                <ns2:creationId id="{DC2EE27E-698D-4FF8-9DF6-6C1479FDE098}"/>
              </a:ext>
            </a:extLst>
          </ns0:cNvPr>
          <ns0:cNvSpPr>
            <a:spLocks noGrp="1"/>
          </ns0:cNvSpPr>
          <ns0:nvPr/>
        </ns0:nvSpPr>
        <ns0:spPr>
          <a:xfrm>
            <a:off x="7905750" y="5705475"/>
            <a:ext cx="3714750" cy="333375"/>
          </a:xfrm>
          <a:prstGeom prst="rect">
            <a:avLst/>
          </a:prstGeom>
          <a:noFill/>
          <a:ln w="0">
            <a:noFill/>
          </a:ln>
        </ns0:spPr>
        <ns0:txBody>
          <a:bodyPr lIns="0" tIns="0" rIns="0" bIns="0">
            <a:noAutofit/>
          </a:bodyPr>
          <a:lstStyle/>
          <a:p>
            <a:pPr>
              <a:defRPr sz="1800" b="0">
                <a:solidFill>
                  <a:srgbClr val="51D6C4"/>
                </a:solidFill>
                <a:latin typeface="Arial"/>
                <a:ea typeface="Arial"/>
                <a:cs typeface="Arial"/>
              </a:defRPr>
            </a:pPr>
            <a:r>
              <a:rPr sz="1800" b="0">
                <a:solidFill>
                  <a:srgbClr val="51D6C4"/>
                </a:solidFill>
                <a:latin typeface="Arial"/>
                <a:ea typeface="Arial"/>
                <a:cs typeface="Arial"/>
                <a:hlinkClick r:id="rIdAuraMedLink4"/>
              </a:rPr>
              <a:t>youtu.be/Dbne7Zs1pR8</a:t>
            </a:r>
          </a:p>
        </ns0:txBody>
      </ns0:sp>
    </ns0:spTree>
    <ns0:extLst>
      <ns0:ext uri="{BB962C8B-B14F-4D97-AF65-F5344CB8AC3E}">
        <ns4:creationId val="866296132"/>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2026-10-04T18:58:59.4760000Z</dcterms:created>
  <dcterms:modified xsi:type="dcterms:W3CDTF">2026-10-04T18:58:59.4760000Z</dcterms:modified>
</coreProperties>
</file>